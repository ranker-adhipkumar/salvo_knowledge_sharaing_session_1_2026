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29f280-129c-5a72-d1d0-41be600e5b44}">
          <p14:sldIdLst>
            <p14:sldId id="256"/>
            <p14:sldId id="257"/>
            <p14:sldId id="258"/>
          </p14:sldIdLst>
        </p14:section>
        <p14:section name="Linear regression" id="{cfaa0fdd-adbc-022f-9a1e-0ea44b77075d}">
          <p14:sldIdLst>
            <p14:sldId id="259"/>
            <p14:sldId id="260"/>
            <p14:sldId id="261"/>
            <p14:sldId id="262"/>
            <p14:sldId id="263"/>
            <p14:sldId id="264"/>
          </p14:sldIdLst>
        </p14:section>
        <p14:section name="Logistic regression" id="{8285693d-f93d-c71c-c68e-efc0dbfc6314}">
          <p14:sldIdLst>
            <p14:sldId id="265"/>
            <p14:sldId id="266"/>
            <p14:sldId id="267"/>
            <p14:sldId id="268"/>
          </p14:sldIdLst>
        </p14:section>
        <p14:section name="Advanced topics" id="{19ddcf1e-6b74-0243-5eca-7cf5d8b76a0f}">
          <p14:sldIdLst>
            <p14:sldId id="269"/>
            <p14:sldId id="270"/>
            <p14:sldId id="271"/>
          </p14:sldIdLst>
        </p14:section>
        <p14:section name="Wrap-up" id="{bed5049d-1004-e3d6-896c-15c294bb9ca5}">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52F"/>
                </a:solidFill>
                <a:latin typeface="+mn-lt"/>
              </a:defRPr>
            </a:pPr>
            <a:r>
              <a:rPr sz="1400" b="0" i="0" u="none" strike="noStrike">
                <a:solidFill>
                  <a:srgbClr val="10252F"/>
                </a:solidFill>
                <a:latin typeface="+mn-lt"/>
              </a:rPr>
              <a:t>Exam score vs hours studied</a:t>
            </a:r>
          </a:p>
        </c:rich>
      </c:tx>
      <c:layout/>
      <c:overlay val="0"/>
    </c:title>
    <c:autoTitleDeleted val="0"/>
    <c:plotArea>
      <c:layout/>
      <c:lineChart>
        <c:varyColors val="0"/>
        <c:ser>
          <c:idx val="0"/>
          <c:order val="0"/>
          <c:tx>
            <c:strRef>
              <c:f>Sheet1!$B$1</c:f>
              <c:strCache>
                <c:ptCount val="1"/>
                <c:pt idx="0">
                  <c:v>Actual score</c:v>
                </c:pt>
              </c:strCache>
            </c:strRef>
          </c:tx>
          <c:spPr>
            <a:solidFill>
              <a:srgbClr val="F2674A"/>
            </a:solidFill>
            <a:ln>
              <a:noFill/>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F2674A"/>
              </a:solidFill>
              <a:ln w="9525" cap="flat">
                <a:solidFill>
                  <a:srgbClr val="F2674A"/>
                </a:solidFill>
                <a:prstDash val="solid"/>
                <a:round/>
              </a:ln>
              <a:effectLst/>
            </c:spPr>
          </c:marker>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48</c:v>
                </c:pt>
                <c:pt idx="1">
                  <c:v>60</c:v>
                </c:pt>
                <c:pt idx="2">
                  <c:v>62</c:v>
                </c:pt>
                <c:pt idx="3">
                  <c:v>74</c:v>
                </c:pt>
                <c:pt idx="4">
                  <c:v>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Fitted line</c:v>
                </c:pt>
              </c:strCache>
            </c:strRef>
          </c:tx>
          <c:spPr>
            <a:solidFill>
              <a:srgbClr val="0E6F7C"/>
            </a:solidFill>
            <a:ln w="31750" cap="flat">
              <a:solidFill>
                <a:srgbClr val="0E6F7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F7C"/>
              </a:solidFill>
              <a:ln w="9525" cap="flat">
                <a:solidFill>
                  <a:srgbClr val="0E6F7C"/>
                </a:solidFill>
                <a:prstDash val="solid"/>
                <a:round/>
              </a:ln>
              <a:effectLst/>
            </c:spPr>
          </c:marker>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50</c:v>
                </c:pt>
                <c:pt idx="1">
                  <c:v>57</c:v>
                </c:pt>
                <c:pt idx="2">
                  <c:v>64</c:v>
                </c:pt>
                <c:pt idx="3">
                  <c:v>71</c:v>
                </c:pt>
                <c:pt idx="4">
                  <c:v>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B6370"/>
                    </a:solidFill>
                    <a:latin typeface="+mn-lt"/>
                  </a:defRPr>
                </a:pPr>
                <a:r>
                  <a:rPr sz="1200" b="0" i="0" u="none" strike="noStrike">
                    <a:solidFill>
                      <a:srgbClr val="4B6370"/>
                    </a:solidFill>
                    <a:latin typeface="+mn-lt"/>
                  </a:rPr>
                  <a:t>Hours studied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2"/>
        <c:crosses val="autoZero"/>
        <c:auto val="1"/>
        <c:lblAlgn val="ctr"/>
        <c:noMultiLvlLbl val="1"/>
      </c:catAx>
      <c:valAx>
        <c:axId val="2094734552"/>
        <c:scaling>
          <c:orientation val="minMax"/>
          <c:max val="85"/>
          <c:min val="40"/>
        </c:scaling>
        <c:delete val="0"/>
        <c:axPos val="l"/>
        <c:majorGridlines>
          <c:spPr>
            <a:ln w="9525" cap="flat">
              <a:solidFill>
                <a:srgbClr val="D5E2E6"/>
              </a:solidFill>
              <a:prstDash val="solid"/>
              <a:round/>
            </a:ln>
          </c:spPr>
        </c:majorGridlines>
        <c:title>
          <c:tx>
            <c:rich>
              <a:bodyPr/>
              <a:lstStyle/>
              <a:p>
                <a:pPr>
                  <a:defRPr sz="1200" b="0" i="0" u="none" strike="noStrike">
                    <a:solidFill>
                      <a:srgbClr val="4B6370"/>
                    </a:solidFill>
                    <a:latin typeface="+mn-lt"/>
                  </a:defRPr>
                </a:pPr>
                <a:r>
                  <a:rPr sz="1200" b="0" i="0" u="none" strike="noStrike">
                    <a:solidFill>
                      <a:srgbClr val="4B6370"/>
                    </a:solidFill>
                    <a:latin typeface="+mn-lt"/>
                  </a:rPr>
                  <a:t>Exam score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4B63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52F"/>
                </a:solidFill>
                <a:latin typeface="+mn-lt"/>
              </a:defRPr>
            </a:pPr>
            <a:r>
              <a:rPr sz="1400" b="0" i="0" u="none" strike="noStrike">
                <a:solidFill>
                  <a:srgbClr val="10252F"/>
                </a:solidFill>
                <a:latin typeface="+mn-lt"/>
              </a:rPr>
              <a:t>The S-shaped curve</a:t>
            </a:r>
          </a:p>
        </c:rich>
      </c:tx>
      <c:layout/>
      <c:overlay val="0"/>
    </c:title>
    <c:autoTitleDeleted val="0"/>
    <c:plotArea>
      <c:layout/>
      <c:lineChart>
        <c:varyColors val="0"/>
        <c:ser>
          <c:idx val="0"/>
          <c:order val="0"/>
          <c:tx>
            <c:strRef>
              <c:f>Sheet1!$B$1</c:f>
              <c:strCache>
                <c:ptCount val="1"/>
                <c:pt idx="0">
                  <c:v>σ(z)</c:v>
                </c:pt>
              </c:strCache>
            </c:strRef>
          </c:tx>
          <c:spPr>
            <a:solidFill>
              <a:srgbClr val="0E6F7C"/>
            </a:solidFill>
            <a:ln w="38100" cap="flat">
              <a:solidFill>
                <a:srgbClr val="0E6F7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F7C"/>
              </a:solidFill>
              <a:ln w="9525" cap="flat">
                <a:solidFill>
                  <a:srgbClr val="0E6F7C"/>
                </a:solidFill>
                <a:prstDash val="solid"/>
                <a:round/>
              </a:ln>
              <a:effectLst/>
            </c:spPr>
          </c:marker>
          <c:cat>
            <c:multiLvlStrRef>
              <c:f>Sheet1!$A$2:$A$14</c:f>
              <c:multiLvlStrCache>
                <c:ptCount val="13"/>
                <c:lvl>
                  <c:pt idx="0">
                    <c:v>−6</c:v>
                  </c:pt>
                  <c:pt idx="1">
                    <c:v/>
                  </c:pt>
                  <c:pt idx="2">
                    <c:v>−4</c:v>
                  </c:pt>
                  <c:pt idx="3">
                    <c:v/>
                  </c:pt>
                  <c:pt idx="4">
                    <c:v>−2</c:v>
                  </c:pt>
                  <c:pt idx="5">
                    <c:v/>
                  </c:pt>
                  <c:pt idx="6">
                    <c:v>0</c:v>
                  </c:pt>
                  <c:pt idx="7">
                    <c:v/>
                  </c:pt>
                  <c:pt idx="8">
                    <c:v>2</c:v>
                  </c:pt>
                  <c:pt idx="9">
                    <c:v/>
                  </c:pt>
                  <c:pt idx="10">
                    <c:v>4</c:v>
                  </c:pt>
                  <c:pt idx="11">
                    <c:v/>
                  </c:pt>
                  <c:pt idx="12">
                    <c:v>6</c:v>
                  </c:pt>
                </c:lvl>
              </c:multiLvlStrCache>
            </c:multiLvlStrRef>
          </c:cat>
          <c:val>
            <c:numRef>
              <c:f>Sheet1!$B$2:$B$14</c:f>
              <c:numCache>
                <c:formatCode>General</c:formatCode>
                <c:ptCount val="13"/>
                <c:pt idx="0">
                  <c:v>0.0025</c:v>
                </c:pt>
                <c:pt idx="1">
                  <c:v>0.0067</c:v>
                </c:pt>
                <c:pt idx="2">
                  <c:v>0.018</c:v>
                </c:pt>
                <c:pt idx="3">
                  <c:v>0.0474</c:v>
                </c:pt>
                <c:pt idx="4">
                  <c:v>0.1192</c:v>
                </c:pt>
                <c:pt idx="5">
                  <c:v>0.2689</c:v>
                </c:pt>
                <c:pt idx="6">
                  <c:v>0.5</c:v>
                </c:pt>
                <c:pt idx="7">
                  <c:v>0.7311</c:v>
                </c:pt>
                <c:pt idx="8">
                  <c:v>0.8808</c:v>
                </c:pt>
                <c:pt idx="9">
                  <c:v>0.9526</c:v>
                </c:pt>
                <c:pt idx="10">
                  <c:v>0.982</c:v>
                </c:pt>
                <c:pt idx="11">
                  <c:v>0.9933</c:v>
                </c:pt>
                <c:pt idx="12">
                  <c:v>0.9975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B6370"/>
                    </a:solidFill>
                    <a:latin typeface="+mn-lt"/>
                  </a:defRPr>
                </a:pPr>
                <a:r>
                  <a:rPr sz="1200" b="0" i="0" u="none" strike="noStrike">
                    <a:solidFill>
                      <a:srgbClr val="4B6370"/>
                    </a:solidFill>
                    <a:latin typeface="+mn-lt"/>
                  </a:rPr>
                  <a:t>Score z</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E2E6"/>
              </a:solidFill>
              <a:prstDash val="solid"/>
              <a:round/>
            </a:ln>
          </c:spPr>
        </c:majorGridlines>
        <c:title>
          <c:tx>
            <c:rich>
              <a:bodyPr/>
              <a:lstStyle/>
              <a:p>
                <a:pPr>
                  <a:defRPr sz="1200" b="0" i="0" u="none" strike="noStrike">
                    <a:solidFill>
                      <a:srgbClr val="4B6370"/>
                    </a:solidFill>
                    <a:latin typeface="+mn-lt"/>
                  </a:defRPr>
                </a:pPr>
                <a:r>
                  <a:rPr sz="1200" b="0" i="0" u="none" strike="noStrike">
                    <a:solidFill>
                      <a:srgbClr val="4B6370"/>
                    </a:solidFill>
                    <a:latin typeface="+mn-lt"/>
                  </a:rPr>
                  <a:t>Probability</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52F"/>
                </a:solidFill>
                <a:latin typeface="+mn-lt"/>
              </a:defRPr>
            </a:pPr>
            <a:r>
              <a:rPr sz="1400" b="0" i="0" u="none" strike="noStrike">
                <a:solidFill>
                  <a:srgbClr val="10252F"/>
                </a:solidFill>
                <a:latin typeface="+mn-lt"/>
              </a:rPr>
              <a:t>Penalty for wrong confidence</a:t>
            </a:r>
          </a:p>
        </c:rich>
      </c:tx>
      <c:layout/>
      <c:overlay val="0"/>
    </c:title>
    <c:autoTitleDeleted val="0"/>
    <c:plotArea>
      <c:layout/>
      <c:lineChart>
        <c:varyColors val="0"/>
        <c:ser>
          <c:idx val="0"/>
          <c:order val="0"/>
          <c:tx>
            <c:strRef>
              <c:f>Sheet1!$B$1</c:f>
              <c:strCache>
                <c:ptCount val="1"/>
                <c:pt idx="0">
                  <c:v>True class = 1: −ln(p)</c:v>
                </c:pt>
              </c:strCache>
            </c:strRef>
          </c:tx>
          <c:spPr>
            <a:solidFill>
              <a:srgbClr val="F2674A"/>
            </a:solidFill>
            <a:ln w="38100" cap="flat">
              <a:solidFill>
                <a:srgbClr val="F267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674A"/>
              </a:solidFill>
              <a:ln w="9525" cap="flat">
                <a:solidFill>
                  <a:srgbClr val="F2674A"/>
                </a:solidFill>
                <a:prstDash val="solid"/>
                <a:round/>
              </a:ln>
              <a:effectLst/>
            </c:spPr>
          </c:marker>
          <c:cat>
            <c:multiLvlStrRef>
              <c:f>Sheet1!$A$2:$A$20</c:f>
              <c:multiLvlStrCache>
                <c:ptCount val="19"/>
                <c:lvl>
                  <c:pt idx="0">
                    <c:v/>
                  </c:pt>
                  <c:pt idx="1">
                    <c:v/>
                  </c:pt>
                  <c:pt idx="2">
                    <c:v/>
                  </c:pt>
                  <c:pt idx="3">
                    <c:v/>
                  </c:pt>
                  <c:pt idx="4">
                    <c:v>0.25</c:v>
                  </c:pt>
                  <c:pt idx="5">
                    <c:v/>
                  </c:pt>
                  <c:pt idx="6">
                    <c:v/>
                  </c:pt>
                  <c:pt idx="7">
                    <c:v/>
                  </c:pt>
                  <c:pt idx="8">
                    <c:v/>
                  </c:pt>
                  <c:pt idx="9">
                    <c:v>0.50</c:v>
                  </c:pt>
                  <c:pt idx="10">
                    <c:v/>
                  </c:pt>
                  <c:pt idx="11">
                    <c:v/>
                  </c:pt>
                  <c:pt idx="12">
                    <c:v/>
                  </c:pt>
                  <c:pt idx="13">
                    <c:v/>
                  </c:pt>
                  <c:pt idx="14">
                    <c:v>0.75</c:v>
                  </c:pt>
                  <c:pt idx="15">
                    <c:v/>
                  </c:pt>
                  <c:pt idx="16">
                    <c:v/>
                  </c:pt>
                  <c:pt idx="17">
                    <c:v/>
                  </c:pt>
                  <c:pt idx="18">
                    <c:v/>
                  </c:pt>
                </c:lvl>
              </c:multiLvlStrCache>
            </c:multiLvlStrRef>
          </c:cat>
          <c:val>
            <c:numRef>
              <c:f>Sheet1!$B$2:$B$20</c:f>
              <c:numCache>
                <c:formatCode>General</c:formatCode>
                <c:ptCount val="19"/>
                <c:pt idx="0">
                  <c:v>2.996</c:v>
                </c:pt>
                <c:pt idx="1">
                  <c:v>2.303</c:v>
                </c:pt>
                <c:pt idx="2">
                  <c:v>1.897</c:v>
                </c:pt>
                <c:pt idx="3">
                  <c:v>1.609</c:v>
                </c:pt>
                <c:pt idx="4">
                  <c:v>1.386</c:v>
                </c:pt>
                <c:pt idx="5">
                  <c:v>1.204</c:v>
                </c:pt>
                <c:pt idx="6">
                  <c:v>1.05</c:v>
                </c:pt>
                <c:pt idx="7">
                  <c:v>0.916</c:v>
                </c:pt>
                <c:pt idx="8">
                  <c:v>0.799</c:v>
                </c:pt>
                <c:pt idx="9">
                  <c:v>0.693</c:v>
                </c:pt>
                <c:pt idx="10">
                  <c:v>0.598</c:v>
                </c:pt>
                <c:pt idx="11">
                  <c:v>0.511</c:v>
                </c:pt>
                <c:pt idx="12">
                  <c:v>0.431</c:v>
                </c:pt>
                <c:pt idx="13">
                  <c:v>0.357</c:v>
                </c:pt>
                <c:pt idx="14">
                  <c:v>0.288</c:v>
                </c:pt>
                <c:pt idx="15">
                  <c:v>0.223</c:v>
                </c:pt>
                <c:pt idx="16">
                  <c:v>0.163</c:v>
                </c:pt>
                <c:pt idx="17">
                  <c:v>0.105</c:v>
                </c:pt>
                <c:pt idx="18">
                  <c:v>0.051</c:v>
                </c:pt>
              </c:numCache>
            </c:numRef>
          </c:val>
          <c:smooth val="0"/>
        </c:ser>
        <c:ser>
          <c:idx val="1"/>
          <c:order val="1"/>
          <c:tx>
            <c:strRef>
              <c:f>Sheet1!$C$1</c:f>
              <c:strCache>
                <c:ptCount val="1"/>
                <c:pt idx="0">
                  <c:v>True class = 0: −ln(1−p)</c:v>
                </c:pt>
              </c:strCache>
            </c:strRef>
          </c:tx>
          <c:spPr>
            <a:solidFill>
              <a:srgbClr val="0E6F7C"/>
            </a:solidFill>
            <a:ln w="38100" cap="flat">
              <a:solidFill>
                <a:srgbClr val="0E6F7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F7C"/>
              </a:solidFill>
              <a:ln w="9525" cap="flat">
                <a:solidFill>
                  <a:srgbClr val="0E6F7C"/>
                </a:solidFill>
                <a:prstDash val="solid"/>
                <a:round/>
              </a:ln>
              <a:effectLst/>
            </c:spPr>
          </c:marker>
          <c:cat>
            <c:multiLvlStrRef>
              <c:f>Sheet1!$A$2:$A$20</c:f>
              <c:multiLvlStrCache>
                <c:ptCount val="19"/>
                <c:lvl>
                  <c:pt idx="0">
                    <c:v/>
                  </c:pt>
                  <c:pt idx="1">
                    <c:v/>
                  </c:pt>
                  <c:pt idx="2">
                    <c:v/>
                  </c:pt>
                  <c:pt idx="3">
                    <c:v/>
                  </c:pt>
                  <c:pt idx="4">
                    <c:v>0.25</c:v>
                  </c:pt>
                  <c:pt idx="5">
                    <c:v/>
                  </c:pt>
                  <c:pt idx="6">
                    <c:v/>
                  </c:pt>
                  <c:pt idx="7">
                    <c:v/>
                  </c:pt>
                  <c:pt idx="8">
                    <c:v/>
                  </c:pt>
                  <c:pt idx="9">
                    <c:v>0.50</c:v>
                  </c:pt>
                  <c:pt idx="10">
                    <c:v/>
                  </c:pt>
                  <c:pt idx="11">
                    <c:v/>
                  </c:pt>
                  <c:pt idx="12">
                    <c:v/>
                  </c:pt>
                  <c:pt idx="13">
                    <c:v/>
                  </c:pt>
                  <c:pt idx="14">
                    <c:v>0.75</c:v>
                  </c:pt>
                  <c:pt idx="15">
                    <c:v/>
                  </c:pt>
                  <c:pt idx="16">
                    <c:v/>
                  </c:pt>
                  <c:pt idx="17">
                    <c:v/>
                  </c:pt>
                  <c:pt idx="18">
                    <c:v/>
                  </c:pt>
                </c:lvl>
              </c:multiLvlStrCache>
            </c:multiLvlStrRef>
          </c:cat>
          <c:val>
            <c:numRef>
              <c:f>Sheet1!$C$2:$C$20</c:f>
              <c:numCache>
                <c:formatCode>General</c:formatCode>
                <c:ptCount val="19"/>
                <c:pt idx="0">
                  <c:v>0.051</c:v>
                </c:pt>
                <c:pt idx="1">
                  <c:v>0.105</c:v>
                </c:pt>
                <c:pt idx="2">
                  <c:v>0.163</c:v>
                </c:pt>
                <c:pt idx="3">
                  <c:v>0.223</c:v>
                </c:pt>
                <c:pt idx="4">
                  <c:v>0.288</c:v>
                </c:pt>
                <c:pt idx="5">
                  <c:v>0.357</c:v>
                </c:pt>
                <c:pt idx="6">
                  <c:v>0.431</c:v>
                </c:pt>
                <c:pt idx="7">
                  <c:v>0.511</c:v>
                </c:pt>
                <c:pt idx="8">
                  <c:v>0.598</c:v>
                </c:pt>
                <c:pt idx="9">
                  <c:v>0.693</c:v>
                </c:pt>
                <c:pt idx="10">
                  <c:v>0.799</c:v>
                </c:pt>
                <c:pt idx="11">
                  <c:v>0.916</c:v>
                </c:pt>
                <c:pt idx="12">
                  <c:v>1.05</c:v>
                </c:pt>
                <c:pt idx="13">
                  <c:v>1.204</c:v>
                </c:pt>
                <c:pt idx="14">
                  <c:v>1.386</c:v>
                </c:pt>
                <c:pt idx="15">
                  <c:v>1.609</c:v>
                </c:pt>
                <c:pt idx="16">
                  <c:v>1.897</c:v>
                </c:pt>
                <c:pt idx="17">
                  <c:v>2.303</c:v>
                </c:pt>
                <c:pt idx="18">
                  <c:v>2.996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B6370"/>
                    </a:solidFill>
                    <a:latin typeface="+mn-lt"/>
                  </a:defRPr>
                </a:pPr>
                <a:r>
                  <a:rPr sz="1200" b="0" i="0" u="none" strike="noStrike">
                    <a:solidFill>
                      <a:srgbClr val="4B6370"/>
                    </a:solidFill>
                    <a:latin typeface="+mn-lt"/>
                  </a:rPr>
                  <a:t>Predicted probability 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D5E2E6"/>
              </a:solidFill>
              <a:prstDash val="solid"/>
              <a:round/>
            </a:ln>
          </c:spPr>
        </c:majorGridlines>
        <c:title>
          <c:tx>
            <c:rich>
              <a:bodyPr/>
              <a:lstStyle/>
              <a:p>
                <a:pPr>
                  <a:defRPr sz="1200" b="0" i="0" u="none" strike="noStrike">
                    <a:solidFill>
                      <a:srgbClr val="4B6370"/>
                    </a:solidFill>
                    <a:latin typeface="+mn-lt"/>
                  </a:defRPr>
                </a:pPr>
                <a:r>
                  <a:rPr sz="1200" b="0" i="0" u="none" strike="noStrike">
                    <a:solidFill>
                      <a:srgbClr val="4B6370"/>
                    </a:solidFill>
                    <a:latin typeface="+mn-lt"/>
                  </a:rPr>
                  <a:t>Loss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637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4B63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first session of Salvo, the official AI club of SASTRA. This is a teaching-learning session for members, conducted by Adhip Kumar and C. G. Rajiv Subramaniam.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builds from a straight line through points to regularization, GLMs and calibration. Beginners can stop after each Part; advanced readers can jump to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Beginner: the core idea and one worked example for each model. Intermediate: more features, assumptions, and how to measure quality. Advanced: regularization, GLMs, imbalance and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predicts a number. Classification predicts a category. Logistic regression is confusingly named: it models a probability, and is used for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student. The model is a straight line: score = b0 + b1 x hours. Slope b1 tells us the gain per extra hour; intercept b0 is the score at zero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Least squares picks the line with the smallest sum of squared errors. For one feature there is a closed form: slope = Sxy / Sxx, intercept = mean(y) - slope * mean(x). Here the answer is score = 43 + 7 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straight from the worked example: SSE = 30, SST = 516, n = 5. R squared is 1 - 30/516 = 0.94.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problems have many features. Each coefficient is the effect of that feature with the others held fixed. The normal equation gives the least squares solution in one matrix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matter most for inference: confidence intervals and p-values. Predictions can still be useful when assumptions are mildly violated, but always look at the residual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sigmoid maps any real number to a value between 0 and 1. At z = 0 it is exactly 0.5. Large positive scores approach 1; large negative scores approach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odds and log-odds are three views of the same number. Logistic regression is linear in log-odds, which is why exponentiating a coefficient gives an odds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fitted by maximum likelihood, which is the same as minimising average log loss. The loss punishes confident wrong answers very heavily. There is no closed form, so we use gradient descent or Newton-style methods (IRLS).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200 cases: TP 80, FN 20, FP 10, TN 90. Accuracy 0.85, precision 0.89, recall 0.80, F1 0.84. Accuracy alone is misleading when classes are imbalanced.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Regularization adds a penalty on coefficient size to the loss. Ridge shrinks, Lasso selects, Elastic Net mixes. Tune lambda by cross-validation. In scikit-learn, C is the inverse of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issues that decide whether a logistic model works in production: more than two classes, rare positives, probabilities you can trust, and separable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generalized linear models: a linear predictor passed through a link function. Linear uses the identity link and squared error. Logistic uses the logit link and log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to remember. Linear predicts numbers with squared error; logistic predicts probabilities with the sigmoid and log loss; both need honest evaluation; regularization and calibration take you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scikit-learn guide for the API and the ISL book for theory. The GitHub repositories give runnable code you can fork and modify.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PE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914400"/>
            <a:ext cx="466344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108960"/>
            <a:ext cx="45720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accent1"/>
          </a:solidFill>
          <a:ln/>
        </p:spPr>
      </p:sp>
      <p:sp>
        <p:nvSpPr>
          <p:cNvPr id="3" name="Text 1"/>
          <p:cNvSpPr/>
          <p:nvPr>
            <p:ph idx="101" type="title" hasCustomPrompt="1"/>
          </p:nvPr>
        </p:nvSpPr>
        <p:spPr>
          <a:xfrm>
            <a:off x="731520" y="1783080"/>
            <a:ext cx="58521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731520" y="3017520"/>
            <a:ext cx="566928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tx2"/>
                </a:solidFill>
              </a:rPr>
              <a:t>Linear and Logistic Regression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scikit-learn.org/stable/modules/linear_model.html" TargetMode="External"/><Relationship Id="rId3" Type="http://schemas.openxmlformats.org/officeDocument/2006/relationships/hyperlink" Target="https://www.statlearning.com" TargetMode="External"/><Relationship Id="rId5" Type="http://schemas.openxmlformats.org/officeDocument/2006/relationships/hyperlink" Target="https://github.com/ageron/handson-ml3" TargetMode="External"/><Relationship Id="rId6" Type="http://schemas.openxmlformats.org/officeDocument/2006/relationships/hyperlink" Target="https://github.com/patrickloeber/MLfromscratch" TargetMode="External"/><Relationship Id="rId7" Type="http://schemas.openxmlformats.org/officeDocument/2006/relationships/hyperlink" Target="https://github.com/intro-stat-learning/ISLP_labs" TargetMode="External"/><Relationship Id="rId1" Type="http://schemas.openxmlformats.org/officeDocument/2006/relationships/image" Target="../media/image-18-1.png"/><Relationship Id="rId4" Type="http://schemas.openxmlformats.org/officeDocument/2006/relationships/image" Target="../media/image-18-2.png"/><Relationship Id="rId8" Type="http://schemas.openxmlformats.org/officeDocument/2006/relationships/slideLayout" Target="../slideLayouts/slideLayout5.xml"/><Relationship Id="rId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Salvo logo: a cloud outline with circuit-style nodes above the word SALVO">    </p:cNvPr>
          <p:cNvPicPr>
            <a:picLocks noChangeAspect="1"/>
          </p:cNvPicPr>
          <p:nvPr/>
        </p:nvPicPr>
        <p:blipFill>
          <a:blip r:embed="rId1"/>
          <a:stretch>
            <a:fillRect/>
          </a:stretch>
        </p:blipFill>
        <p:spPr>
          <a:xfrm>
            <a:off x="457200" y="502920"/>
            <a:ext cx="4114800" cy="4114800"/>
          </a:xfrm>
          <a:prstGeom prst="rect">
            <a:avLst/>
          </a:prstGeom>
        </p:spPr>
      </p:pic>
      <p:sp>
        <p:nvSpPr>
          <p:cNvPr id="4" name="Text 0"/>
          <p:cNvSpPr txBox="1"/>
          <p:nvPr/>
        </p:nvSpPr>
        <p:spPr>
          <a:xfrm>
            <a:off x="4846320" y="1188720"/>
            <a:ext cx="3840480" cy="118872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The official AI club of SASTRA</a:t>
            </a:r>
            <a:endParaRPr lang="en-US" sz="3200" dirty="0"/>
          </a:p>
        </p:txBody>
      </p:sp>
      <p:sp>
        <p:nvSpPr>
          <p:cNvPr id="5" name="Text 1"/>
          <p:cNvSpPr txBox="1"/>
          <p:nvPr/>
        </p:nvSpPr>
        <p:spPr>
          <a:xfrm>
            <a:off x="4846320" y="2560320"/>
            <a:ext cx="3840480" cy="822960"/>
          </a:xfrm>
          <a:prstGeom prst="rect">
            <a:avLst/>
          </a:prstGeom>
          <a:noFill/>
          <a:ln/>
        </p:spPr>
        <p:txBody>
          <a:bodyPr wrap="square" lIns="0" tIns="0" rIns="0" bIns="0" rtlCol="0" anchor="t"/>
          <a:lstStyle/>
          <a:p>
            <a:pPr indent="0" marL="0">
              <a:buNone/>
            </a:pPr>
            <a:r>
              <a:rPr lang="en-US" sz="1800" dirty="0">
                <a:solidFill>
                  <a:schemeClr val="bg2"/>
                </a:solidFill>
              </a:rPr>
              <a:t>First session of a teaching-learning experience for members</a:t>
            </a:r>
            <a:endParaRPr lang="en-US" sz="1800" dirty="0"/>
          </a:p>
        </p:txBody>
      </p:sp>
      <p:sp>
        <p:nvSpPr>
          <p:cNvPr id="6" name="Text 2"/>
          <p:cNvSpPr txBox="1"/>
          <p:nvPr/>
        </p:nvSpPr>
        <p:spPr>
          <a:xfrm>
            <a:off x="4846320" y="3931920"/>
            <a:ext cx="3840480" cy="685800"/>
          </a:xfrm>
          <a:prstGeom prst="rect">
            <a:avLst/>
          </a:prstGeom>
          <a:noFill/>
          <a:ln/>
        </p:spPr>
        <p:txBody>
          <a:bodyPr wrap="square" lIns="0" tIns="0" rIns="0" bIns="0" rtlCol="0" anchor="b"/>
          <a:lstStyle/>
          <a:p>
            <a:pPr algn="r" indent="0" marL="0">
              <a:buNone/>
            </a:pPr>
            <a:r>
              <a:rPr lang="en-US" sz="1200" dirty="0">
                <a:solidFill>
                  <a:schemeClr val="accent4"/>
                </a:solidFill>
              </a:rPr>
              <a:t>Conducted by</a:t>
            </a:r>
            <a:endParaRPr lang="en-US" sz="1400" dirty="0"/>
          </a:p>
          <a:p>
            <a:pPr algn="r" indent="0" marL="0">
              <a:buNone/>
            </a:pPr>
            <a:r>
              <a:rPr lang="en-US" sz="1600" b="1" dirty="0">
                <a:solidFill>
                  <a:schemeClr val="bg1"/>
                </a:solidFill>
              </a:rPr>
              <a:t>Adhip Kumar and C. G. Rajiv Subramaniam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914400"/>
            <a:ext cx="4663440" cy="2011680"/>
          </a:xfrm>
          <a:prstGeom prst="rect">
            <a:avLst/>
          </a:prstGeom>
          <a:noFill/>
          <a:ln/>
        </p:spPr>
        <p:txBody>
          <a:bodyPr wrap="square" lIns="0" tIns="0" rIns="0" bIns="0" rtlCol="0" anchor="b"/>
          <a:lstStyle/>
          <a:p>
            <a:pPr algn="l" indent="0" marL="0">
              <a:buNone/>
            </a:pPr>
            <a:r>
              <a:rPr lang="en-US" sz="4000" b="1" dirty="0">
                <a:solidFill>
                  <a:schemeClr val="bg1"/>
                </a:solidFill>
              </a:rPr>
              <a:t>Linear and Logistic Regression</a:t>
            </a:r>
            <a:endParaRPr lang="en-US" sz="4000" dirty="0"/>
          </a:p>
        </p:txBody>
      </p:sp>
      <p:sp>
        <p:nvSpPr>
          <p:cNvPr id="3" name="Text 1"/>
          <p:cNvSpPr/>
          <p:nvPr>
            <p:ph idx="102" type="body" hasCustomPrompt="1"/>
          </p:nvPr>
        </p:nvSpPr>
        <p:spPr>
          <a:xfrm>
            <a:off x="548640" y="3108960"/>
            <a:ext cx="4572000" cy="822960"/>
          </a:xfrm>
          <a:prstGeom prst="rect">
            <a:avLst/>
          </a:prstGeom>
          <a:noFill/>
          <a:ln/>
        </p:spPr>
        <p:txBody>
          <a:bodyPr wrap="square" lIns="0" tIns="0" rIns="0" bIns="0" rtlCol="0" anchor="t"/>
          <a:lstStyle/>
          <a:p>
            <a:pPr algn="l" indent="0" marL="0">
              <a:buNone/>
            </a:pPr>
            <a:r>
              <a:rPr lang="en-US" sz="1800" dirty="0">
                <a:solidFill>
                  <a:schemeClr val="bg2"/>
                </a:solidFill>
              </a:rPr>
              <a:t>From first principles to advanced practice</a:t>
            </a:r>
            <a:endParaRPr lang="en-US" sz="1800" dirty="0"/>
          </a:p>
        </p:txBody>
      </p:sp>
      <p:sp>
        <p:nvSpPr>
          <p:cNvPr id="5" name="Title panel"/>
          <p:cNvSpPr/>
          <p:nvPr/>
        </p:nvSpPr>
        <p:spPr>
          <a:xfrm>
            <a:off x="5486400" y="822960"/>
            <a:ext cx="3200400" cy="3474720"/>
          </a:xfrm>
          <a:prstGeom prst="roundRect">
            <a:avLst>
              <a:gd name="adj" fmla="val 4286"/>
            </a:avLst>
          </a:prstGeom>
          <a:solidFill>
            <a:schemeClr val="accent1">
              <a:alpha val="20000"/>
            </a:schemeClr>
          </a:solidFill>
          <a:ln/>
        </p:spPr>
      </p:sp>
      <p:sp>
        <p:nvSpPr>
          <p:cNvPr id="6" name="Regression line"/>
          <p:cNvSpPr/>
          <p:nvPr/>
        </p:nvSpPr>
        <p:spPr>
          <a:xfrm flipV="1">
            <a:off x="5669280" y="1188720"/>
            <a:ext cx="2743200" cy="2743200"/>
          </a:xfrm>
          <a:prstGeom prst="line">
            <a:avLst/>
          </a:prstGeom>
          <a:noFill/>
          <a:ln w="38100">
            <a:solidFill>
              <a:schemeClr val="bg2"/>
            </a:solidFill>
            <a:prstDash val="solid"/>
          </a:ln>
        </p:spPr>
      </p:sp>
      <p:sp>
        <p:nvSpPr>
          <p:cNvPr id="7" name="Data point 1"/>
          <p:cNvSpPr/>
          <p:nvPr/>
        </p:nvSpPr>
        <p:spPr>
          <a:xfrm>
            <a:off x="5724144" y="3835908"/>
            <a:ext cx="164592" cy="164592"/>
          </a:xfrm>
          <a:prstGeom prst="ellipse">
            <a:avLst/>
          </a:prstGeom>
          <a:solidFill>
            <a:schemeClr val="accent3"/>
          </a:solidFill>
          <a:ln/>
        </p:spPr>
      </p:sp>
      <p:sp>
        <p:nvSpPr>
          <p:cNvPr id="8" name="Data point 2"/>
          <p:cNvSpPr/>
          <p:nvPr/>
        </p:nvSpPr>
        <p:spPr>
          <a:xfrm>
            <a:off x="5980176" y="3291840"/>
            <a:ext cx="164592" cy="164592"/>
          </a:xfrm>
          <a:prstGeom prst="ellipse">
            <a:avLst/>
          </a:prstGeom>
          <a:solidFill>
            <a:schemeClr val="accent2"/>
          </a:solidFill>
          <a:ln/>
        </p:spPr>
      </p:sp>
      <p:sp>
        <p:nvSpPr>
          <p:cNvPr id="9" name="Data point 3"/>
          <p:cNvSpPr/>
          <p:nvPr/>
        </p:nvSpPr>
        <p:spPr>
          <a:xfrm>
            <a:off x="6236208" y="3406140"/>
            <a:ext cx="164592" cy="164592"/>
          </a:xfrm>
          <a:prstGeom prst="ellipse">
            <a:avLst/>
          </a:prstGeom>
          <a:solidFill>
            <a:schemeClr val="accent3"/>
          </a:solidFill>
          <a:ln/>
        </p:spPr>
      </p:sp>
      <p:sp>
        <p:nvSpPr>
          <p:cNvPr id="10" name="Data point 4"/>
          <p:cNvSpPr/>
          <p:nvPr/>
        </p:nvSpPr>
        <p:spPr>
          <a:xfrm>
            <a:off x="6492240" y="2862072"/>
            <a:ext cx="164592" cy="164592"/>
          </a:xfrm>
          <a:prstGeom prst="ellipse">
            <a:avLst/>
          </a:prstGeom>
          <a:solidFill>
            <a:schemeClr val="accent2"/>
          </a:solidFill>
          <a:ln/>
        </p:spPr>
      </p:sp>
      <p:sp>
        <p:nvSpPr>
          <p:cNvPr id="11" name="Data point 5"/>
          <p:cNvSpPr/>
          <p:nvPr/>
        </p:nvSpPr>
        <p:spPr>
          <a:xfrm>
            <a:off x="6748272" y="2852928"/>
            <a:ext cx="164592" cy="164592"/>
          </a:xfrm>
          <a:prstGeom prst="ellipse">
            <a:avLst/>
          </a:prstGeom>
          <a:solidFill>
            <a:schemeClr val="accent3"/>
          </a:solidFill>
          <a:ln/>
        </p:spPr>
      </p:sp>
      <p:sp>
        <p:nvSpPr>
          <p:cNvPr id="12" name="Data point 6"/>
          <p:cNvSpPr/>
          <p:nvPr/>
        </p:nvSpPr>
        <p:spPr>
          <a:xfrm>
            <a:off x="7004304" y="2226564"/>
            <a:ext cx="164592" cy="164592"/>
          </a:xfrm>
          <a:prstGeom prst="ellipse">
            <a:avLst/>
          </a:prstGeom>
          <a:solidFill>
            <a:schemeClr val="accent2"/>
          </a:solidFill>
          <a:ln/>
        </p:spPr>
      </p:sp>
      <p:sp>
        <p:nvSpPr>
          <p:cNvPr id="13" name="Data point 7"/>
          <p:cNvSpPr/>
          <p:nvPr/>
        </p:nvSpPr>
        <p:spPr>
          <a:xfrm>
            <a:off x="7260336" y="2258568"/>
            <a:ext cx="164592" cy="164592"/>
          </a:xfrm>
          <a:prstGeom prst="ellipse">
            <a:avLst/>
          </a:prstGeom>
          <a:solidFill>
            <a:schemeClr val="accent3"/>
          </a:solidFill>
          <a:ln/>
        </p:spPr>
      </p:sp>
      <p:sp>
        <p:nvSpPr>
          <p:cNvPr id="14" name="Data point 8"/>
          <p:cNvSpPr/>
          <p:nvPr/>
        </p:nvSpPr>
        <p:spPr>
          <a:xfrm>
            <a:off x="7516368" y="2084832"/>
            <a:ext cx="164592" cy="164592"/>
          </a:xfrm>
          <a:prstGeom prst="ellipse">
            <a:avLst/>
          </a:prstGeom>
          <a:solidFill>
            <a:schemeClr val="accent2"/>
          </a:solidFill>
          <a:ln/>
        </p:spPr>
      </p:sp>
      <p:sp>
        <p:nvSpPr>
          <p:cNvPr id="15" name="Data point 9"/>
          <p:cNvSpPr/>
          <p:nvPr/>
        </p:nvSpPr>
        <p:spPr>
          <a:xfrm>
            <a:off x="7772400" y="1540764"/>
            <a:ext cx="164592" cy="164592"/>
          </a:xfrm>
          <a:prstGeom prst="ellipse">
            <a:avLst/>
          </a:prstGeom>
          <a:solidFill>
            <a:schemeClr val="accent3"/>
          </a:solidFill>
          <a:ln/>
        </p:spPr>
      </p:sp>
      <p:sp>
        <p:nvSpPr>
          <p:cNvPr id="16" name="Data point 10"/>
          <p:cNvSpPr/>
          <p:nvPr/>
        </p:nvSpPr>
        <p:spPr>
          <a:xfrm>
            <a:off x="8028432" y="1490472"/>
            <a:ext cx="164592" cy="164592"/>
          </a:xfrm>
          <a:prstGeom prst="ellipse">
            <a:avLst/>
          </a:prstGeom>
          <a:solidFill>
            <a:schemeClr val="accent2"/>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Your learning path</a:t>
            </a:r>
            <a:endParaRPr lang="en-US" sz="3600" dirty="0"/>
          </a:p>
        </p:txBody>
      </p:sp>
      <p:sp>
        <p:nvSpPr>
          <p:cNvPr id="4" name="Card 1"/>
          <p:cNvSpPr/>
          <p:nvPr/>
        </p:nvSpPr>
        <p:spPr>
          <a:xfrm>
            <a:off x="457200" y="1234440"/>
            <a:ext cx="2560320" cy="3291840"/>
          </a:xfrm>
          <a:prstGeom prst="roundRect">
            <a:avLst>
              <a:gd name="adj" fmla="val 3571"/>
            </a:avLst>
          </a:prstGeom>
          <a:solidFill>
            <a:schemeClr val="bg2"/>
          </a:solidFill>
          <a:ln/>
        </p:spPr>
      </p:sp>
      <p:sp>
        <p:nvSpPr>
          <p:cNvPr id="5" name="Badge 2"/>
          <p:cNvSpPr/>
          <p:nvPr/>
        </p:nvSpPr>
        <p:spPr>
          <a:xfrm>
            <a:off x="685800" y="1463040"/>
            <a:ext cx="640080" cy="640080"/>
          </a:xfrm>
          <a:prstGeom prst="ellipse">
            <a:avLst/>
          </a:prstGeom>
          <a:solidFill>
            <a:schemeClr val="accent1"/>
          </a:solidFill>
          <a:ln/>
        </p:spPr>
      </p:sp>
      <p:pic>
        <p:nvPicPr>
          <p:cNvPr id="6" name="Image 0" descr="Seedling icon">    </p:cNvPr>
          <p:cNvPicPr>
            <a:picLocks noChangeAspect="1"/>
          </p:cNvPicPr>
          <p:nvPr/>
        </p:nvPicPr>
        <p:blipFill>
          <a:blip r:embed="rId1"/>
          <a:stretch>
            <a:fillRect/>
          </a:stretch>
        </p:blipFill>
        <p:spPr>
          <a:xfrm>
            <a:off x="845820" y="1623060"/>
            <a:ext cx="320040" cy="320040"/>
          </a:xfrm>
          <a:prstGeom prst="rect">
            <a:avLst/>
          </a:prstGeom>
        </p:spPr>
      </p:pic>
      <p:sp>
        <p:nvSpPr>
          <p:cNvPr id="7" name="Text 3"/>
          <p:cNvSpPr txBox="1"/>
          <p:nvPr/>
        </p:nvSpPr>
        <p:spPr>
          <a:xfrm>
            <a:off x="1463040" y="1463040"/>
            <a:ext cx="1371600" cy="640080"/>
          </a:xfrm>
          <a:prstGeom prst="rect">
            <a:avLst/>
          </a:prstGeom>
          <a:noFill/>
          <a:ln/>
        </p:spPr>
        <p:txBody>
          <a:bodyPr wrap="square" lIns="0" tIns="0" rIns="0" bIns="0" rtlCol="0" anchor="ctr"/>
          <a:lstStyle/>
          <a:p>
            <a:pPr indent="0" marL="0">
              <a:buNone/>
            </a:pPr>
            <a:r>
              <a:rPr lang="en-US" sz="1200" b="1" spc="200" kern="0" dirty="0">
                <a:solidFill>
                  <a:schemeClr val="tx2"/>
                </a:solidFill>
              </a:rPr>
              <a:t>LEVEL 1</a:t>
            </a:r>
            <a:endParaRPr lang="en-US" sz="1200" dirty="0"/>
          </a:p>
        </p:txBody>
      </p:sp>
      <p:sp>
        <p:nvSpPr>
          <p:cNvPr id="8" name="Text 4"/>
          <p:cNvSpPr txBox="1"/>
          <p:nvPr/>
        </p:nvSpPr>
        <p:spPr>
          <a:xfrm>
            <a:off x="685800" y="2286000"/>
            <a:ext cx="2194560" cy="411480"/>
          </a:xfrm>
          <a:prstGeom prst="rect">
            <a:avLst/>
          </a:prstGeom>
          <a:noFill/>
          <a:ln/>
        </p:spPr>
        <p:txBody>
          <a:bodyPr wrap="square" lIns="0" tIns="0" rIns="0" bIns="0" rtlCol="0" anchor="t"/>
          <a:lstStyle/>
          <a:p>
            <a:pPr indent="0" marL="0">
              <a:buNone/>
            </a:pPr>
            <a:r>
              <a:rPr lang="en-US" sz="2000" b="1" dirty="0">
                <a:solidFill>
                  <a:schemeClr val="tx1"/>
                </a:solidFill>
              </a:rPr>
              <a:t>Beginner</a:t>
            </a:r>
            <a:endParaRPr lang="en-US" sz="2000" dirty="0"/>
          </a:p>
        </p:txBody>
      </p:sp>
      <p:sp>
        <p:nvSpPr>
          <p:cNvPr id="9" name="Text 5"/>
          <p:cNvSpPr txBox="1"/>
          <p:nvPr/>
        </p:nvSpPr>
        <p:spPr>
          <a:xfrm>
            <a:off x="685800" y="2834640"/>
            <a:ext cx="2194560" cy="155448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Fit a line to data</a:t>
            </a:r>
            <a:endParaRPr lang="en-US" sz="1400" dirty="0"/>
          </a:p>
          <a:p>
            <a:pPr marL="190500" indent="-190500">
              <a:spcAft>
                <a:spcPts val="600"/>
              </a:spcAft>
              <a:buSzPct val="100000"/>
              <a:buChar char="•"/>
            </a:pPr>
            <a:r>
              <a:rPr lang="en-US" sz="1400" dirty="0">
                <a:solidFill>
                  <a:schemeClr val="tx1"/>
                </a:solidFill>
              </a:rPr>
              <a:t>Predict numbers (linear)</a:t>
            </a:r>
            <a:endParaRPr lang="en-US" sz="1400" dirty="0"/>
          </a:p>
          <a:p>
            <a:pPr marL="190500" indent="-190500">
              <a:spcAft>
                <a:spcPts val="600"/>
              </a:spcAft>
              <a:buSzPct val="100000"/>
              <a:buChar char="•"/>
            </a:pPr>
            <a:r>
              <a:rPr lang="en-US" sz="1400" dirty="0">
                <a:solidFill>
                  <a:schemeClr val="tx1"/>
                </a:solidFill>
              </a:rPr>
              <a:t>Predict classes (logistic)</a:t>
            </a:r>
            <a:endParaRPr lang="en-US" sz="1400" dirty="0"/>
          </a:p>
        </p:txBody>
      </p:sp>
      <p:sp>
        <p:nvSpPr>
          <p:cNvPr id="10" name="Card 3"/>
          <p:cNvSpPr/>
          <p:nvPr/>
        </p:nvSpPr>
        <p:spPr>
          <a:xfrm>
            <a:off x="3291840" y="1234440"/>
            <a:ext cx="2560320" cy="3291840"/>
          </a:xfrm>
          <a:prstGeom prst="roundRect">
            <a:avLst>
              <a:gd name="adj" fmla="val 3571"/>
            </a:avLst>
          </a:prstGeom>
          <a:solidFill>
            <a:schemeClr val="bg2"/>
          </a:solidFill>
          <a:ln/>
        </p:spPr>
      </p:sp>
      <p:sp>
        <p:nvSpPr>
          <p:cNvPr id="11" name="Badge 4"/>
          <p:cNvSpPr/>
          <p:nvPr/>
        </p:nvSpPr>
        <p:spPr>
          <a:xfrm>
            <a:off x="3520440" y="1463040"/>
            <a:ext cx="640080" cy="640080"/>
          </a:xfrm>
          <a:prstGeom prst="ellipse">
            <a:avLst/>
          </a:prstGeom>
          <a:solidFill>
            <a:schemeClr val="accent1"/>
          </a:solidFill>
          <a:ln/>
        </p:spPr>
      </p:sp>
      <p:pic>
        <p:nvPicPr>
          <p:cNvPr id="12" name="Image 1" descr="LayerGroup icon">    </p:cNvPr>
          <p:cNvPicPr>
            <a:picLocks noChangeAspect="1"/>
          </p:cNvPicPr>
          <p:nvPr/>
        </p:nvPicPr>
        <p:blipFill>
          <a:blip r:embed="rId2"/>
          <a:stretch>
            <a:fillRect/>
          </a:stretch>
        </p:blipFill>
        <p:spPr>
          <a:xfrm>
            <a:off x="3680460" y="1623060"/>
            <a:ext cx="320040" cy="320040"/>
          </a:xfrm>
          <a:prstGeom prst="rect">
            <a:avLst/>
          </a:prstGeom>
        </p:spPr>
      </p:pic>
      <p:sp>
        <p:nvSpPr>
          <p:cNvPr id="13" name="Text 8"/>
          <p:cNvSpPr txBox="1"/>
          <p:nvPr/>
        </p:nvSpPr>
        <p:spPr>
          <a:xfrm>
            <a:off x="4297680" y="1463040"/>
            <a:ext cx="1371600" cy="640080"/>
          </a:xfrm>
          <a:prstGeom prst="rect">
            <a:avLst/>
          </a:prstGeom>
          <a:noFill/>
          <a:ln/>
        </p:spPr>
        <p:txBody>
          <a:bodyPr wrap="square" lIns="0" tIns="0" rIns="0" bIns="0" rtlCol="0" anchor="ctr"/>
          <a:lstStyle/>
          <a:p>
            <a:pPr indent="0" marL="0">
              <a:buNone/>
            </a:pPr>
            <a:r>
              <a:rPr lang="en-US" sz="1200" b="1" spc="200" kern="0" dirty="0">
                <a:solidFill>
                  <a:schemeClr val="tx2"/>
                </a:solidFill>
              </a:rPr>
              <a:t>LEVEL 2</a:t>
            </a:r>
            <a:endParaRPr lang="en-US" sz="1200" dirty="0"/>
          </a:p>
        </p:txBody>
      </p:sp>
      <p:sp>
        <p:nvSpPr>
          <p:cNvPr id="14" name="Text 9"/>
          <p:cNvSpPr txBox="1"/>
          <p:nvPr/>
        </p:nvSpPr>
        <p:spPr>
          <a:xfrm>
            <a:off x="3520440" y="2286000"/>
            <a:ext cx="2194560" cy="411480"/>
          </a:xfrm>
          <a:prstGeom prst="rect">
            <a:avLst/>
          </a:prstGeom>
          <a:noFill/>
          <a:ln/>
        </p:spPr>
        <p:txBody>
          <a:bodyPr wrap="square" lIns="0" tIns="0" rIns="0" bIns="0" rtlCol="0" anchor="t"/>
          <a:lstStyle/>
          <a:p>
            <a:pPr indent="0" marL="0">
              <a:buNone/>
            </a:pPr>
            <a:r>
              <a:rPr lang="en-US" sz="2000" b="1" dirty="0">
                <a:solidFill>
                  <a:schemeClr val="tx1"/>
                </a:solidFill>
              </a:rPr>
              <a:t>Intermediate</a:t>
            </a:r>
            <a:endParaRPr lang="en-US" sz="2000" dirty="0"/>
          </a:p>
        </p:txBody>
      </p:sp>
      <p:sp>
        <p:nvSpPr>
          <p:cNvPr id="15" name="Text 10"/>
          <p:cNvSpPr txBox="1"/>
          <p:nvPr/>
        </p:nvSpPr>
        <p:spPr>
          <a:xfrm>
            <a:off x="3520440" y="2834640"/>
            <a:ext cx="2194560" cy="155448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Many features at once</a:t>
            </a:r>
            <a:endParaRPr lang="en-US" sz="1400" dirty="0"/>
          </a:p>
          <a:p>
            <a:pPr marL="190500" indent="-190500">
              <a:spcAft>
                <a:spcPts val="600"/>
              </a:spcAft>
              <a:buSzPct val="100000"/>
              <a:buChar char="•"/>
            </a:pPr>
            <a:r>
              <a:rPr lang="en-US" sz="1400" dirty="0">
                <a:solidFill>
                  <a:schemeClr val="tx1"/>
                </a:solidFill>
              </a:rPr>
              <a:t>Assumptions and checks</a:t>
            </a:r>
            <a:endParaRPr lang="en-US" sz="1400" dirty="0"/>
          </a:p>
          <a:p>
            <a:pPr marL="190500" indent="-190500">
              <a:spcAft>
                <a:spcPts val="600"/>
              </a:spcAft>
              <a:buSzPct val="100000"/>
              <a:buChar char="•"/>
            </a:pPr>
            <a:r>
              <a:rPr lang="en-US" sz="1400" dirty="0">
                <a:solidFill>
                  <a:schemeClr val="tx1"/>
                </a:solidFill>
              </a:rPr>
              <a:t>Odds, log loss, metrics</a:t>
            </a:r>
            <a:endParaRPr lang="en-US" sz="1400" dirty="0"/>
          </a:p>
        </p:txBody>
      </p:sp>
      <p:sp>
        <p:nvSpPr>
          <p:cNvPr id="16" name="Card 5"/>
          <p:cNvSpPr/>
          <p:nvPr/>
        </p:nvSpPr>
        <p:spPr>
          <a:xfrm>
            <a:off x="6126480" y="1234440"/>
            <a:ext cx="2560320" cy="3291840"/>
          </a:xfrm>
          <a:prstGeom prst="roundRect">
            <a:avLst>
              <a:gd name="adj" fmla="val 3571"/>
            </a:avLst>
          </a:prstGeom>
          <a:solidFill>
            <a:schemeClr val="bg2"/>
          </a:solidFill>
          <a:ln/>
        </p:spPr>
      </p:sp>
      <p:sp>
        <p:nvSpPr>
          <p:cNvPr id="17" name="Badge 6"/>
          <p:cNvSpPr/>
          <p:nvPr/>
        </p:nvSpPr>
        <p:spPr>
          <a:xfrm>
            <a:off x="6355080" y="1463040"/>
            <a:ext cx="640080" cy="640080"/>
          </a:xfrm>
          <a:prstGeom prst="ellipse">
            <a:avLst/>
          </a:prstGeom>
          <a:solidFill>
            <a:schemeClr val="accent2"/>
          </a:solidFill>
          <a:ln/>
        </p:spPr>
      </p:sp>
      <p:pic>
        <p:nvPicPr>
          <p:cNvPr id="18" name="Image 2" descr="Rocket icon">    </p:cNvPr>
          <p:cNvPicPr>
            <a:picLocks noChangeAspect="1"/>
          </p:cNvPicPr>
          <p:nvPr/>
        </p:nvPicPr>
        <p:blipFill>
          <a:blip r:embed="rId3"/>
          <a:stretch>
            <a:fillRect/>
          </a:stretch>
        </p:blipFill>
        <p:spPr>
          <a:xfrm>
            <a:off x="6515100" y="1623060"/>
            <a:ext cx="320040" cy="320040"/>
          </a:xfrm>
          <a:prstGeom prst="rect">
            <a:avLst/>
          </a:prstGeom>
        </p:spPr>
      </p:pic>
      <p:sp>
        <p:nvSpPr>
          <p:cNvPr id="19" name="Text 13"/>
          <p:cNvSpPr txBox="1"/>
          <p:nvPr/>
        </p:nvSpPr>
        <p:spPr>
          <a:xfrm>
            <a:off x="7132320" y="1463040"/>
            <a:ext cx="1371600" cy="640080"/>
          </a:xfrm>
          <a:prstGeom prst="rect">
            <a:avLst/>
          </a:prstGeom>
          <a:noFill/>
          <a:ln/>
        </p:spPr>
        <p:txBody>
          <a:bodyPr wrap="square" lIns="0" tIns="0" rIns="0" bIns="0" rtlCol="0" anchor="ctr"/>
          <a:lstStyle/>
          <a:p>
            <a:pPr indent="0" marL="0">
              <a:buNone/>
            </a:pPr>
            <a:r>
              <a:rPr lang="en-US" sz="1200" b="1" spc="200" kern="0" dirty="0">
                <a:solidFill>
                  <a:schemeClr val="tx2"/>
                </a:solidFill>
              </a:rPr>
              <a:t>LEVEL 3</a:t>
            </a:r>
            <a:endParaRPr lang="en-US" sz="1200" dirty="0"/>
          </a:p>
        </p:txBody>
      </p:sp>
      <p:sp>
        <p:nvSpPr>
          <p:cNvPr id="20" name="Text 14"/>
          <p:cNvSpPr txBox="1"/>
          <p:nvPr/>
        </p:nvSpPr>
        <p:spPr>
          <a:xfrm>
            <a:off x="6355080" y="2286000"/>
            <a:ext cx="2194560" cy="411480"/>
          </a:xfrm>
          <a:prstGeom prst="rect">
            <a:avLst/>
          </a:prstGeom>
          <a:noFill/>
          <a:ln/>
        </p:spPr>
        <p:txBody>
          <a:bodyPr wrap="square" lIns="0" tIns="0" rIns="0" bIns="0" rtlCol="0" anchor="t"/>
          <a:lstStyle/>
          <a:p>
            <a:pPr indent="0" marL="0">
              <a:buNone/>
            </a:pPr>
            <a:r>
              <a:rPr lang="en-US" sz="2000" b="1" dirty="0">
                <a:solidFill>
                  <a:schemeClr val="tx1"/>
                </a:solidFill>
              </a:rPr>
              <a:t>Advanced</a:t>
            </a:r>
            <a:endParaRPr lang="en-US" sz="2000" dirty="0"/>
          </a:p>
        </p:txBody>
      </p:sp>
      <p:sp>
        <p:nvSpPr>
          <p:cNvPr id="21" name="Text 15"/>
          <p:cNvSpPr txBox="1"/>
          <p:nvPr/>
        </p:nvSpPr>
        <p:spPr>
          <a:xfrm>
            <a:off x="6355080" y="2834640"/>
            <a:ext cx="2194560" cy="155448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Regularization: L1, L2</a:t>
            </a:r>
            <a:endParaRPr lang="en-US" sz="1400" dirty="0"/>
          </a:p>
          <a:p>
            <a:pPr marL="190500" indent="-190500">
              <a:spcAft>
                <a:spcPts val="600"/>
              </a:spcAft>
              <a:buSzPct val="100000"/>
              <a:buChar char="•"/>
            </a:pPr>
            <a:r>
              <a:rPr lang="en-US" sz="1400" dirty="0">
                <a:solidFill>
                  <a:schemeClr val="tx1"/>
                </a:solidFill>
              </a:rPr>
              <a:t>GLMs and link functions</a:t>
            </a:r>
            <a:endParaRPr lang="en-US" sz="1400" dirty="0"/>
          </a:p>
          <a:p>
            <a:pPr marL="190500" indent="-190500">
              <a:spcAft>
                <a:spcPts val="600"/>
              </a:spcAft>
              <a:buSzPct val="100000"/>
              <a:buChar char="•"/>
            </a:pPr>
            <a:r>
              <a:rPr lang="en-US" sz="1400" dirty="0">
                <a:solidFill>
                  <a:schemeClr val="tx1"/>
                </a:solidFill>
              </a:rPr>
              <a:t>Imbalance, calibration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What is regression?</a:t>
            </a:r>
            <a:endParaRPr lang="en-US" sz="3600" dirty="0"/>
          </a:p>
        </p:txBody>
      </p:sp>
      <p:sp>
        <p:nvSpPr>
          <p:cNvPr id="4" name="Card 7"/>
          <p:cNvSpPr/>
          <p:nvPr/>
        </p:nvSpPr>
        <p:spPr>
          <a:xfrm>
            <a:off x="457200" y="1234440"/>
            <a:ext cx="3977640" cy="2148840"/>
          </a:xfrm>
          <a:prstGeom prst="roundRect">
            <a:avLst>
              <a:gd name="adj" fmla="val 4255"/>
            </a:avLst>
          </a:prstGeom>
          <a:solidFill>
            <a:schemeClr val="bg2"/>
          </a:solidFill>
          <a:ln/>
        </p:spPr>
      </p:sp>
      <p:sp>
        <p:nvSpPr>
          <p:cNvPr id="5" name="Badge 8"/>
          <p:cNvSpPr/>
          <p:nvPr/>
        </p:nvSpPr>
        <p:spPr>
          <a:xfrm>
            <a:off x="640080" y="1417320"/>
            <a:ext cx="502920" cy="502920"/>
          </a:xfrm>
          <a:prstGeom prst="ellipse">
            <a:avLst/>
          </a:prstGeom>
          <a:solidFill>
            <a:schemeClr val="accent1"/>
          </a:solidFill>
          <a:ln/>
        </p:spPr>
      </p:sp>
      <p:pic>
        <p:nvPicPr>
          <p:cNvPr id="6" name="Image 0" descr="ChartLine icon">    </p:cNvPr>
          <p:cNvPicPr>
            <a:picLocks noChangeAspect="1"/>
          </p:cNvPicPr>
          <p:nvPr/>
        </p:nvPicPr>
        <p:blipFill>
          <a:blip r:embed="rId1"/>
          <a:stretch>
            <a:fillRect/>
          </a:stretch>
        </p:blipFill>
        <p:spPr>
          <a:xfrm>
            <a:off x="765810" y="1543050"/>
            <a:ext cx="251460" cy="251460"/>
          </a:xfrm>
          <a:prstGeom prst="rect">
            <a:avLst/>
          </a:prstGeom>
        </p:spPr>
      </p:pic>
      <p:sp>
        <p:nvSpPr>
          <p:cNvPr id="7" name="Text 3"/>
          <p:cNvSpPr txBox="1"/>
          <p:nvPr/>
        </p:nvSpPr>
        <p:spPr>
          <a:xfrm>
            <a:off x="1280160" y="141732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Linear regression</a:t>
            </a:r>
            <a:endParaRPr lang="en-US" sz="1600" dirty="0"/>
          </a:p>
        </p:txBody>
      </p:sp>
      <p:sp>
        <p:nvSpPr>
          <p:cNvPr id="8" name="Text 4"/>
          <p:cNvSpPr txBox="1"/>
          <p:nvPr/>
        </p:nvSpPr>
        <p:spPr>
          <a:xfrm>
            <a:off x="640080" y="2057400"/>
            <a:ext cx="3611880" cy="1234440"/>
          </a:xfrm>
          <a:prstGeom prst="rect">
            <a:avLst/>
          </a:prstGeom>
          <a:noFill/>
          <a:ln/>
        </p:spPr>
        <p:txBody>
          <a:bodyPr wrap="square" lIns="0" tIns="0" rIns="0" bIns="0" rtlCol="0" anchor="t"/>
          <a:lstStyle/>
          <a:p>
            <a:pPr indent="0" marL="0">
              <a:buNone/>
            </a:pPr>
            <a:r>
              <a:rPr lang="en-US" sz="1400" dirty="0">
                <a:solidFill>
                  <a:schemeClr val="tx1"/>
                </a:solidFill>
              </a:rPr>
              <a:t>Predicts a continuous number.</a:t>
            </a:r>
            <a:endParaRPr lang="en-US" sz="1400" dirty="0"/>
          </a:p>
          <a:p>
            <a:pPr indent="0" marL="0">
              <a:buNone/>
            </a:pPr>
            <a:r>
              <a:rPr lang="en-US" sz="1400" dirty="0">
                <a:solidFill>
                  <a:schemeClr val="tx1"/>
                </a:solidFill>
              </a:rPr>
              <a:t>Examples: house price, exam score, next month’s sales.</a:t>
            </a:r>
            <a:endParaRPr lang="en-US" sz="1400" dirty="0"/>
          </a:p>
        </p:txBody>
      </p:sp>
      <p:sp>
        <p:nvSpPr>
          <p:cNvPr id="9" name="Card 9"/>
          <p:cNvSpPr/>
          <p:nvPr/>
        </p:nvSpPr>
        <p:spPr>
          <a:xfrm>
            <a:off x="4709160" y="1234440"/>
            <a:ext cx="3977640" cy="2148840"/>
          </a:xfrm>
          <a:prstGeom prst="roundRect">
            <a:avLst>
              <a:gd name="adj" fmla="val 4255"/>
            </a:avLst>
          </a:prstGeom>
          <a:solidFill>
            <a:schemeClr val="bg2"/>
          </a:solidFill>
          <a:ln/>
        </p:spPr>
      </p:sp>
      <p:sp>
        <p:nvSpPr>
          <p:cNvPr id="10" name="Badge 10"/>
          <p:cNvSpPr/>
          <p:nvPr/>
        </p:nvSpPr>
        <p:spPr>
          <a:xfrm>
            <a:off x="4892040" y="1417320"/>
            <a:ext cx="502920" cy="502920"/>
          </a:xfrm>
          <a:prstGeom prst="ellipse">
            <a:avLst/>
          </a:prstGeom>
          <a:solidFill>
            <a:schemeClr val="accent2"/>
          </a:solidFill>
          <a:ln/>
        </p:spPr>
      </p:sp>
      <p:pic>
        <p:nvPicPr>
          <p:cNvPr id="11" name="Image 1" descr="Tags icon">    </p:cNvPr>
          <p:cNvPicPr>
            <a:picLocks noChangeAspect="1"/>
          </p:cNvPicPr>
          <p:nvPr/>
        </p:nvPicPr>
        <p:blipFill>
          <a:blip r:embed="rId2"/>
          <a:stretch>
            <a:fillRect/>
          </a:stretch>
        </p:blipFill>
        <p:spPr>
          <a:xfrm>
            <a:off x="5017770" y="1543050"/>
            <a:ext cx="251460" cy="251460"/>
          </a:xfrm>
          <a:prstGeom prst="rect">
            <a:avLst/>
          </a:prstGeom>
        </p:spPr>
      </p:pic>
      <p:sp>
        <p:nvSpPr>
          <p:cNvPr id="12" name="Text 7"/>
          <p:cNvSpPr txBox="1"/>
          <p:nvPr/>
        </p:nvSpPr>
        <p:spPr>
          <a:xfrm>
            <a:off x="5532120" y="141732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Logistic regression</a:t>
            </a:r>
            <a:endParaRPr lang="en-US" sz="1600" dirty="0"/>
          </a:p>
        </p:txBody>
      </p:sp>
      <p:sp>
        <p:nvSpPr>
          <p:cNvPr id="13" name="Text 8"/>
          <p:cNvSpPr txBox="1"/>
          <p:nvPr/>
        </p:nvSpPr>
        <p:spPr>
          <a:xfrm>
            <a:off x="4892040" y="2057400"/>
            <a:ext cx="3611880" cy="1234440"/>
          </a:xfrm>
          <a:prstGeom prst="rect">
            <a:avLst/>
          </a:prstGeom>
          <a:noFill/>
          <a:ln/>
        </p:spPr>
        <p:txBody>
          <a:bodyPr wrap="square" lIns="0" tIns="0" rIns="0" bIns="0" rtlCol="0" anchor="t"/>
          <a:lstStyle/>
          <a:p>
            <a:pPr indent="0" marL="0">
              <a:buNone/>
            </a:pPr>
            <a:r>
              <a:rPr lang="en-US" sz="1400" dirty="0">
                <a:solidFill>
                  <a:schemeClr val="tx1"/>
                </a:solidFill>
              </a:rPr>
              <a:t>Predicts the probability of a class.</a:t>
            </a:r>
            <a:endParaRPr lang="en-US" sz="1400" dirty="0"/>
          </a:p>
          <a:p>
            <a:pPr indent="0" marL="0">
              <a:buNone/>
            </a:pPr>
            <a:r>
              <a:rPr lang="en-US" sz="1400" dirty="0">
                <a:solidFill>
                  <a:schemeClr val="tx1"/>
                </a:solidFill>
              </a:rPr>
              <a:t>Examples: spam or not, pass or fail, churn or stay.</a:t>
            </a:r>
            <a:endParaRPr lang="en-US" sz="1400" dirty="0"/>
          </a:p>
        </p:txBody>
      </p:sp>
      <p:sp>
        <p:nvSpPr>
          <p:cNvPr id="14" name="Card 11"/>
          <p:cNvSpPr/>
          <p:nvPr/>
        </p:nvSpPr>
        <p:spPr>
          <a:xfrm>
            <a:off x="457200" y="3611880"/>
            <a:ext cx="8229600" cy="914400"/>
          </a:xfrm>
          <a:prstGeom prst="roundRect">
            <a:avLst>
              <a:gd name="adj" fmla="val 10000"/>
            </a:avLst>
          </a:prstGeom>
          <a:solidFill>
            <a:schemeClr val="bg2"/>
          </a:solidFill>
          <a:ln/>
        </p:spPr>
      </p:sp>
      <p:sp>
        <p:nvSpPr>
          <p:cNvPr id="15" name="Text 10"/>
          <p:cNvSpPr txBox="1"/>
          <p:nvPr/>
        </p:nvSpPr>
        <p:spPr>
          <a:xfrm>
            <a:off x="731520" y="3721608"/>
            <a:ext cx="7680960" cy="731520"/>
          </a:xfrm>
          <a:prstGeom prst="rect">
            <a:avLst/>
          </a:prstGeom>
          <a:noFill/>
          <a:ln/>
        </p:spPr>
        <p:txBody>
          <a:bodyPr wrap="square" lIns="0" tIns="0" rIns="0" bIns="0" rtlCol="0" anchor="ctr"/>
          <a:lstStyle/>
          <a:p>
            <a:pPr marL="190500" indent="-190500">
              <a:spcAft>
                <a:spcPts val="400"/>
              </a:spcAft>
              <a:buSzPct val="100000"/>
              <a:buChar char="•"/>
            </a:pPr>
            <a:r>
              <a:rPr lang="en-US" sz="1400" dirty="0">
                <a:solidFill>
                  <a:schemeClr val="tx1"/>
                </a:solidFill>
              </a:rPr>
              <a:t>Both are supervised: they learn weights from labeled examples, then score new data.</a:t>
            </a:r>
            <a:endParaRPr lang="en-US" sz="1400" dirty="0"/>
          </a:p>
          <a:p>
            <a:pPr marL="190500" indent="-190500">
              <a:buSzPct val="100000"/>
              <a:buChar char="•"/>
            </a:pPr>
            <a:r>
              <a:rPr lang="en-US" sz="1400" dirty="0">
                <a:solidFill>
                  <a:schemeClr val="tx1"/>
                </a:solidFill>
              </a:rPr>
              <a:t>Despite its name, logistic regression is a classifier: it regresses a probability.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Fitting a line</a:t>
            </a:r>
            <a:endParaRPr lang="en-US" sz="3600" dirty="0"/>
          </a:p>
        </p:txBody>
      </p:sp>
      <p:sp>
        <p:nvSpPr>
          <p:cNvPr id="4" name="Card 12"/>
          <p:cNvSpPr/>
          <p:nvPr/>
        </p:nvSpPr>
        <p:spPr>
          <a:xfrm>
            <a:off x="457200" y="1234440"/>
            <a:ext cx="3931920" cy="868680"/>
          </a:xfrm>
          <a:prstGeom prst="roundRect">
            <a:avLst>
              <a:gd name="adj" fmla="val 10526"/>
            </a:avLst>
          </a:prstGeom>
          <a:solidFill>
            <a:schemeClr val="bg2"/>
          </a:solidFill>
          <a:ln/>
        </p:spPr>
      </p:sp>
      <p:sp>
        <p:nvSpPr>
          <p:cNvPr id="5" name="Text 2"/>
          <p:cNvSpPr txBox="1"/>
          <p:nvPr/>
        </p:nvSpPr>
        <p:spPr>
          <a:xfrm>
            <a:off x="457200" y="1234440"/>
            <a:ext cx="3931920" cy="868680"/>
          </a:xfrm>
          <a:prstGeom prst="rect">
            <a:avLst/>
          </a:prstGeom>
          <a:noFill/>
          <a:ln/>
        </p:spPr>
        <p:txBody>
          <a:bodyPr wrap="square" lIns="0" tIns="0" rIns="0" bIns="0" rtlCol="0" anchor="ctr"/>
          <a:lstStyle/>
          <a:p>
            <a:pPr algn="ctr" indent="0" marL="0">
              <a:buNone/>
            </a:pPr>
            <a:r>
              <a:rPr lang="en-US" sz="2800" b="1" dirty="0">
                <a:solidFill>
                  <a:schemeClr val="accent1"/>
                </a:solidFill>
              </a:rPr>
              <a:t>ŷ = b</a:t>
            </a:r>
            <a:pPr algn="ctr" indent="0" marL="0">
              <a:buNone/>
            </a:pPr>
            <a:r>
              <a:rPr lang="en-US" sz="2800" b="1" baseline="-40000" dirty="0">
                <a:solidFill>
                  <a:schemeClr val="accent1"/>
                </a:solidFill>
              </a:rPr>
              <a:t>0</a:t>
            </a:r>
            <a:pPr algn="ctr" indent="0" marL="0">
              <a:buNone/>
            </a:pPr>
            <a:r>
              <a:rPr lang="en-US" sz="2800" b="1" dirty="0">
                <a:solidFill>
                  <a:schemeClr val="accent1"/>
                </a:solidFill>
              </a:rPr>
              <a:t> + b</a:t>
            </a:r>
            <a:pPr algn="ctr" indent="0" marL="0">
              <a:buNone/>
            </a:pPr>
            <a:r>
              <a:rPr lang="en-US" sz="2800" b="1" baseline="-40000" dirty="0">
                <a:solidFill>
                  <a:schemeClr val="accent1"/>
                </a:solidFill>
              </a:rPr>
              <a:t>1</a:t>
            </a:r>
            <a:pPr algn="ctr" indent="0" marL="0">
              <a:buNone/>
            </a:pPr>
            <a:r>
              <a:rPr lang="en-US" sz="2800" b="1" dirty="0">
                <a:solidFill>
                  <a:schemeClr val="accent1"/>
                </a:solidFill>
              </a:rPr>
              <a:t>x</a:t>
            </a:r>
            <a:endParaRPr lang="en-US" sz="2800" dirty="0"/>
          </a:p>
        </p:txBody>
      </p:sp>
      <p:sp>
        <p:nvSpPr>
          <p:cNvPr id="6" name="Text 3"/>
          <p:cNvSpPr txBox="1"/>
          <p:nvPr/>
        </p:nvSpPr>
        <p:spPr>
          <a:xfrm>
            <a:off x="457200" y="2331720"/>
            <a:ext cx="3931920" cy="21945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Hours studied (x) predicts exam score (y)</a:t>
            </a:r>
            <a:endParaRPr lang="en-US" sz="1400" dirty="0"/>
          </a:p>
          <a:p>
            <a:pPr marL="190500" indent="-190500">
              <a:spcAft>
                <a:spcPts val="600"/>
              </a:spcAft>
              <a:buSzPct val="100000"/>
              <a:buChar char="•"/>
            </a:pPr>
            <a:r>
              <a:rPr lang="en-US" sz="1400" dirty="0">
                <a:solidFill>
                  <a:schemeClr val="tx1"/>
                </a:solidFill>
              </a:rPr>
              <a:t>b1, the slope: points gained per extra hour</a:t>
            </a:r>
            <a:endParaRPr lang="en-US" sz="1400" dirty="0"/>
          </a:p>
          <a:p>
            <a:pPr marL="190500" indent="-190500">
              <a:spcAft>
                <a:spcPts val="600"/>
              </a:spcAft>
              <a:buSzPct val="100000"/>
              <a:buChar char="•"/>
            </a:pPr>
            <a:r>
              <a:rPr lang="en-US" sz="1400" dirty="0">
                <a:solidFill>
                  <a:schemeClr val="tx1"/>
                </a:solidFill>
              </a:rPr>
              <a:t>b0, the intercept: predicted score at 0 hours</a:t>
            </a:r>
            <a:endParaRPr lang="en-US" sz="1400" dirty="0"/>
          </a:p>
          <a:p>
            <a:pPr marL="190500" indent="-190500">
              <a:spcAft>
                <a:spcPts val="600"/>
              </a:spcAft>
              <a:buSzPct val="100000"/>
              <a:buChar char="•"/>
            </a:pPr>
            <a:r>
              <a:rPr lang="en-US" sz="1400" dirty="0">
                <a:solidFill>
                  <a:schemeClr val="tx1"/>
                </a:solidFill>
              </a:rPr>
              <a:t>The best line makes the errors as small as possible</a:t>
            </a:r>
            <a:endParaRPr lang="en-US" sz="1400" dirty="0"/>
          </a:p>
        </p:txBody>
      </p:sp>
      <p:graphicFrame>
        <p:nvGraphicFramePr>
          <p:cNvPr id="7" name="Chart 0" descr=""/>
          <p:cNvGraphicFramePr/>
          <p:nvPr/>
        </p:nvGraphicFramePr>
        <p:xfrm>
          <a:off x="4663440" y="1188720"/>
          <a:ext cx="402336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Least squares by hand</a:t>
            </a:r>
            <a:endParaRPr lang="en-US" sz="3600" dirty="0"/>
          </a:p>
        </p:txBody>
      </p:sp>
      <p:graphicFrame>
        <p:nvGraphicFramePr>
          <p:cNvPr id="7" name="Least squares table"/>
          <p:cNvGraphicFramePr>
            <a:graphicFrameLocks noGrp="1"/>
          </p:cNvGraphicFramePr>
          <p:nvPr>
            <p:extLst>
              <p:ext uri="{D42A27DB-BD31-4B8C-83A1-F6EECF244321}">
                <p14:modId xmlns:p14="http://schemas.microsoft.com/office/powerpoint/2010/main" val="1579011935"/>
              </p:ext>
            </p:extLst>
          </p:nvPr>
        </p:nvGraphicFramePr>
        <p:xfrm>
          <a:off x="457200" y="1234440"/>
          <a:ext cx="4754880" cy="914400"/>
        </p:xfrm>
        <a:graphic>
          <a:graphicData uri="http://schemas.openxmlformats.org/drawingml/2006/table">
            <a:tbl>
              <a:tblPr/>
              <a:tblGrid>
                <a:gridCol w="914400"/>
                <a:gridCol w="914400"/>
                <a:gridCol w="914400"/>
                <a:gridCol w="1005840"/>
                <a:gridCol w="1005840"/>
              </a:tblGrid>
              <a:tr h="347472">
                <a:tc>
                  <a:txBody>
                    <a:bodyPr/>
                    <a:lstStyle/>
                    <a:p>
                      <a:pPr algn="l" indent="0" marL="0">
                        <a:buNone/>
                      </a:pPr>
                      <a:r>
                        <a:rPr lang="en-US" sz="1400" b="1" dirty="0">
                          <a:solidFill>
                            <a:schemeClr val="bg1"/>
                          </a:solidFill>
                        </a:rPr>
                        <a:t>Hours</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Score</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Fit</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Error</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Error²</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r>
              <a:tr h="347472">
                <a:tc>
                  <a:txBody>
                    <a:bodyPr/>
                    <a:lstStyle/>
                    <a:p>
                      <a:pPr algn="l" indent="0" marL="0">
                        <a:buNone/>
                      </a:pPr>
                      <a:r>
                        <a:rPr lang="en-US" sz="1400" dirty="0">
                          <a:solidFill>
                            <a:schemeClr val="tx1"/>
                          </a:solidFill>
                        </a:rPr>
                        <a:t>1</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48</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50</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47472">
                <a:tc>
                  <a:txBody>
                    <a:bodyPr/>
                    <a:lstStyle/>
                    <a:p>
                      <a:pPr algn="l" indent="0" marL="0">
                        <a:buNone/>
                      </a:pPr>
                      <a:r>
                        <a:rPr lang="en-US" sz="1400" dirty="0">
                          <a:solidFill>
                            <a:schemeClr val="tx1"/>
                          </a:solidFill>
                        </a:rPr>
                        <a:t>2</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60</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57</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9</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r h="347472">
                <a:tc>
                  <a:txBody>
                    <a:bodyPr/>
                    <a:lstStyle/>
                    <a:p>
                      <a:pPr algn="l" indent="0" marL="0">
                        <a:buNone/>
                      </a:pPr>
                      <a:r>
                        <a:rPr lang="en-US" sz="1400" dirty="0">
                          <a:solidFill>
                            <a:schemeClr val="tx1"/>
                          </a:solidFill>
                        </a:rPr>
                        <a:t>3</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62</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47472">
                <a:tc>
                  <a:txBody>
                    <a:bodyPr/>
                    <a:lstStyle/>
                    <a:p>
                      <a:pPr algn="l" indent="0" marL="0">
                        <a:buNone/>
                      </a:pPr>
                      <a:r>
                        <a:rPr lang="en-US" sz="1400" dirty="0">
                          <a:solidFill>
                            <a:schemeClr val="tx1"/>
                          </a:solidFill>
                        </a:rPr>
                        <a:t>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74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71</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9</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r h="347472">
                <a:tc>
                  <a:txBody>
                    <a:bodyPr/>
                    <a:lstStyle/>
                    <a:p>
                      <a:pPr algn="l" indent="0" marL="0">
                        <a:buNone/>
                      </a:pPr>
                      <a:r>
                        <a:rPr lang="en-US" sz="1400" dirty="0">
                          <a:solidFill>
                            <a:schemeClr val="tx1"/>
                          </a:solidFill>
                        </a:rPr>
                        <a:t>5</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76</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78</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47472">
                <a:tc>
                  <a:txBody>
                    <a:bodyPr/>
                    <a:lstStyle/>
                    <a:p>
                      <a:pPr algn="l" indent="0" marL="0">
                        <a:buNone/>
                      </a:pPr>
                      <a:r>
                        <a:rPr lang="en-US" sz="1400" dirty="0">
                          <a:solidFill>
                            <a:schemeClr val="tx1"/>
                          </a:solidFill>
                        </a:rPr>
                        <a:t>Total</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30</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3886200"/>
            <a:ext cx="4754880" cy="640080"/>
          </a:xfrm>
          <a:prstGeom prst="rect">
            <a:avLst/>
          </a:prstGeom>
          <a:noFill/>
          <a:ln/>
        </p:spPr>
        <p:txBody>
          <a:bodyPr wrap="square" lIns="0" tIns="0" rIns="0" bIns="0" rtlCol="0" anchor="t"/>
          <a:lstStyle/>
          <a:p>
            <a:pPr indent="0" marL="0">
              <a:buNone/>
            </a:pPr>
            <a:r>
              <a:rPr lang="en-US" sz="1400" dirty="0">
                <a:solidFill>
                  <a:schemeClr val="tx1"/>
                </a:solidFill>
              </a:rPr>
              <a:t>Error = score − fit. Least squares picks the line with the smallest total squared error (30).</a:t>
            </a:r>
            <a:endParaRPr lang="en-US" sz="1400" dirty="0"/>
          </a:p>
        </p:txBody>
      </p:sp>
      <p:sp>
        <p:nvSpPr>
          <p:cNvPr id="6" name="Card 13"/>
          <p:cNvSpPr/>
          <p:nvPr/>
        </p:nvSpPr>
        <p:spPr>
          <a:xfrm>
            <a:off x="5486400" y="1234440"/>
            <a:ext cx="3200400" cy="3291840"/>
          </a:xfrm>
          <a:prstGeom prst="roundRect">
            <a:avLst>
              <a:gd name="adj" fmla="val 2857"/>
            </a:avLst>
          </a:prstGeom>
          <a:solidFill>
            <a:schemeClr val="bg2"/>
          </a:solidFill>
          <a:ln/>
        </p:spPr>
      </p:sp>
      <p:sp>
        <p:nvSpPr>
          <p:cNvPr id="7" name="Text 3"/>
          <p:cNvSpPr txBox="1"/>
          <p:nvPr/>
        </p:nvSpPr>
        <p:spPr>
          <a:xfrm>
            <a:off x="5715000" y="1417320"/>
            <a:ext cx="2788920" cy="29260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Closed-form solution</a:t>
            </a:r>
            <a:endParaRPr lang="en-US" sz="1400" dirty="0"/>
          </a:p>
          <a:p>
            <a:pPr indent="0" marL="0">
              <a:spcAft>
                <a:spcPts val="600"/>
              </a:spcAft>
              <a:buNone/>
            </a:pPr>
            <a:r>
              <a:rPr lang="en-US" sz="1400" dirty="0">
                <a:solidFill>
                  <a:schemeClr val="tx1"/>
                </a:solidFill>
              </a:rPr>
              <a:t>Means: x = 3, y = 64</a:t>
            </a:r>
            <a:endParaRPr lang="en-US" sz="1400" dirty="0"/>
          </a:p>
          <a:p>
            <a:pPr indent="0" marL="0">
              <a:spcAft>
                <a:spcPts val="600"/>
              </a:spcAft>
              <a:buNone/>
            </a:pPr>
            <a:r>
              <a:rPr lang="en-US" sz="1400" dirty="0">
                <a:solidFill>
                  <a:schemeClr val="tx1"/>
                </a:solidFill>
              </a:rPr>
              <a:t>Sxy = Σ(x − 3)(y − 64) = 70</a:t>
            </a:r>
            <a:endParaRPr lang="en-US" sz="1400" dirty="0"/>
          </a:p>
          <a:p>
            <a:pPr indent="0" marL="0">
              <a:spcAft>
                <a:spcPts val="600"/>
              </a:spcAft>
              <a:buNone/>
            </a:pPr>
            <a:r>
              <a:rPr lang="en-US" sz="1400" dirty="0">
                <a:solidFill>
                  <a:schemeClr val="tx1"/>
                </a:solidFill>
              </a:rPr>
              <a:t>Sxx = Σ(x − 3)² = 10</a:t>
            </a:r>
            <a:endParaRPr lang="en-US" sz="1400" dirty="0"/>
          </a:p>
          <a:p>
            <a:pPr indent="0" marL="0">
              <a:spcAft>
                <a:spcPts val="600"/>
              </a:spcAft>
              <a:buNone/>
            </a:pPr>
            <a:r>
              <a:rPr lang="en-US" sz="1400" dirty="0">
                <a:solidFill>
                  <a:schemeClr val="tx1"/>
                </a:solidFill>
              </a:rPr>
              <a:t>b</a:t>
            </a:r>
            <a:pPr indent="0" marL="0">
              <a:buNone/>
            </a:pPr>
            <a:r>
              <a:rPr lang="en-US" sz="1400" baseline="-40000" dirty="0">
                <a:solidFill>
                  <a:schemeClr val="tx1"/>
                </a:solidFill>
              </a:rPr>
              <a:t>1</a:t>
            </a:r>
            <a:pPr indent="0" marL="0">
              <a:buNone/>
            </a:pPr>
            <a:r>
              <a:rPr lang="en-US" sz="1400" dirty="0">
                <a:solidFill>
                  <a:schemeClr val="tx1"/>
                </a:solidFill>
              </a:rPr>
              <a:t> = 70 / 10 = 7</a:t>
            </a:r>
            <a:endParaRPr lang="en-US" sz="1400" dirty="0"/>
          </a:p>
          <a:p>
            <a:pPr indent="0" marL="0">
              <a:spcAft>
                <a:spcPts val="1000"/>
              </a:spcAft>
              <a:buNone/>
            </a:pPr>
            <a:r>
              <a:rPr lang="en-US" sz="1400" dirty="0">
                <a:solidFill>
                  <a:schemeClr val="tx1"/>
                </a:solidFill>
              </a:rPr>
              <a:t>b</a:t>
            </a:r>
            <a:pPr indent="0" marL="0">
              <a:buNone/>
            </a:pPr>
            <a:r>
              <a:rPr lang="en-US" sz="1400" baseline="-40000" dirty="0">
                <a:solidFill>
                  <a:schemeClr val="tx1"/>
                </a:solidFill>
              </a:rPr>
              <a:t>0</a:t>
            </a:r>
            <a:pPr indent="0" marL="0">
              <a:buNone/>
            </a:pPr>
            <a:r>
              <a:rPr lang="en-US" sz="1400" dirty="0">
                <a:solidFill>
                  <a:schemeClr val="tx1"/>
                </a:solidFill>
              </a:rPr>
              <a:t> = 64 − 7 × 3 = 43</a:t>
            </a:r>
            <a:endParaRPr lang="en-US" sz="1400" dirty="0"/>
          </a:p>
          <a:p>
            <a:pPr indent="0" marL="0">
              <a:buNone/>
            </a:pPr>
            <a:r>
              <a:rPr lang="en-US" sz="2600" b="1" dirty="0">
                <a:solidFill>
                  <a:schemeClr val="accent1"/>
                </a:solidFill>
              </a:rPr>
              <a:t>ŷ = 43 + 7x</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Measuring how well it fits</a:t>
            </a:r>
            <a:endParaRPr lang="en-US" sz="3600" dirty="0"/>
          </a:p>
        </p:txBody>
      </p:sp>
      <p:sp>
        <p:nvSpPr>
          <p:cNvPr id="4" name="Card 14"/>
          <p:cNvSpPr/>
          <p:nvPr/>
        </p:nvSpPr>
        <p:spPr>
          <a:xfrm>
            <a:off x="457200" y="1234440"/>
            <a:ext cx="1920240" cy="1783080"/>
          </a:xfrm>
          <a:prstGeom prst="roundRect">
            <a:avLst>
              <a:gd name="adj" fmla="val 5128"/>
            </a:avLst>
          </a:prstGeom>
          <a:solidFill>
            <a:schemeClr val="bg2"/>
          </a:solidFill>
          <a:ln/>
        </p:spPr>
      </p:sp>
      <p:sp>
        <p:nvSpPr>
          <p:cNvPr id="5" name="Text 2"/>
          <p:cNvSpPr txBox="1"/>
          <p:nvPr/>
        </p:nvSpPr>
        <p:spPr>
          <a:xfrm>
            <a:off x="457200" y="1371600"/>
            <a:ext cx="1920240" cy="777240"/>
          </a:xfrm>
          <a:prstGeom prst="rect">
            <a:avLst/>
          </a:prstGeom>
          <a:noFill/>
          <a:ln/>
        </p:spPr>
        <p:txBody>
          <a:bodyPr wrap="square" lIns="0" tIns="0" rIns="0" bIns="0" rtlCol="0" anchor="ctr"/>
          <a:lstStyle/>
          <a:p>
            <a:pPr algn="ctr" indent="0" marL="0">
              <a:buNone/>
            </a:pPr>
            <a:r>
              <a:rPr lang="en-US" sz="4000" b="1" dirty="0">
                <a:solidFill>
                  <a:schemeClr val="accent1"/>
                </a:solidFill>
              </a:rPr>
              <a:t>0.94</a:t>
            </a:r>
            <a:endParaRPr lang="en-US" sz="4000" dirty="0"/>
          </a:p>
        </p:txBody>
      </p:sp>
      <p:sp>
        <p:nvSpPr>
          <p:cNvPr id="6" name="Text 3"/>
          <p:cNvSpPr txBox="1"/>
          <p:nvPr/>
        </p:nvSpPr>
        <p:spPr>
          <a:xfrm>
            <a:off x="457200" y="2194560"/>
            <a:ext cx="1920240" cy="320040"/>
          </a:xfrm>
          <a:prstGeom prst="rect">
            <a:avLst/>
          </a:prstGeom>
          <a:noFill/>
          <a:ln/>
        </p:spPr>
        <p:txBody>
          <a:bodyPr wrap="square" lIns="0" tIns="0" rIns="0" bIns="0" rtlCol="0" anchor="t"/>
          <a:lstStyle/>
          <a:p>
            <a:pPr algn="ctr" indent="0" marL="0">
              <a:buNone/>
            </a:pPr>
            <a:r>
              <a:rPr lang="en-US" sz="1600" b="1" dirty="0">
                <a:solidFill>
                  <a:schemeClr val="tx1"/>
                </a:solidFill>
              </a:rPr>
              <a:t>R-squared</a:t>
            </a:r>
            <a:endParaRPr lang="en-US" sz="1600" dirty="0"/>
          </a:p>
        </p:txBody>
      </p:sp>
      <p:sp>
        <p:nvSpPr>
          <p:cNvPr id="7" name="Text 4"/>
          <p:cNvSpPr txBox="1"/>
          <p:nvPr/>
        </p:nvSpPr>
        <p:spPr>
          <a:xfrm>
            <a:off x="457200" y="2560320"/>
            <a:ext cx="1920240" cy="274320"/>
          </a:xfrm>
          <a:prstGeom prst="rect">
            <a:avLst/>
          </a:prstGeom>
          <a:noFill/>
          <a:ln/>
        </p:spPr>
        <p:txBody>
          <a:bodyPr wrap="square" lIns="0" tIns="0" rIns="0" bIns="0" rtlCol="0" anchor="t"/>
          <a:lstStyle/>
          <a:p>
            <a:pPr algn="ctr" indent="0" marL="0">
              <a:buNone/>
            </a:pPr>
            <a:r>
              <a:rPr lang="en-US" sz="1200" dirty="0">
                <a:solidFill>
                  <a:schemeClr val="tx2"/>
                </a:solidFill>
              </a:rPr>
              <a:t>1 − 30 / 516</a:t>
            </a:r>
            <a:endParaRPr lang="en-US" sz="1200" dirty="0"/>
          </a:p>
        </p:txBody>
      </p:sp>
      <p:sp>
        <p:nvSpPr>
          <p:cNvPr id="8" name="Card 15"/>
          <p:cNvSpPr/>
          <p:nvPr/>
        </p:nvSpPr>
        <p:spPr>
          <a:xfrm>
            <a:off x="2560320" y="1234440"/>
            <a:ext cx="1920240" cy="1783080"/>
          </a:xfrm>
          <a:prstGeom prst="roundRect">
            <a:avLst>
              <a:gd name="adj" fmla="val 5128"/>
            </a:avLst>
          </a:prstGeom>
          <a:solidFill>
            <a:schemeClr val="bg2"/>
          </a:solidFill>
          <a:ln/>
        </p:spPr>
      </p:sp>
      <p:sp>
        <p:nvSpPr>
          <p:cNvPr id="9" name="Text 6"/>
          <p:cNvSpPr txBox="1"/>
          <p:nvPr/>
        </p:nvSpPr>
        <p:spPr>
          <a:xfrm>
            <a:off x="2560320" y="1371600"/>
            <a:ext cx="1920240" cy="777240"/>
          </a:xfrm>
          <a:prstGeom prst="rect">
            <a:avLst/>
          </a:prstGeom>
          <a:noFill/>
          <a:ln/>
        </p:spPr>
        <p:txBody>
          <a:bodyPr wrap="square" lIns="0" tIns="0" rIns="0" bIns="0" rtlCol="0" anchor="ctr"/>
          <a:lstStyle/>
          <a:p>
            <a:pPr algn="ctr" indent="0" marL="0">
              <a:buNone/>
            </a:pPr>
            <a:r>
              <a:rPr lang="en-US" sz="4000" b="1" dirty="0">
                <a:solidFill>
                  <a:schemeClr val="accent1"/>
                </a:solidFill>
              </a:rPr>
              <a:t>2.45</a:t>
            </a:r>
            <a:endParaRPr lang="en-US" sz="4000" dirty="0"/>
          </a:p>
        </p:txBody>
      </p:sp>
      <p:sp>
        <p:nvSpPr>
          <p:cNvPr id="10" name="Text 7"/>
          <p:cNvSpPr txBox="1"/>
          <p:nvPr/>
        </p:nvSpPr>
        <p:spPr>
          <a:xfrm>
            <a:off x="2560320" y="2194560"/>
            <a:ext cx="1920240" cy="320040"/>
          </a:xfrm>
          <a:prstGeom prst="rect">
            <a:avLst/>
          </a:prstGeom>
          <a:noFill/>
          <a:ln/>
        </p:spPr>
        <p:txBody>
          <a:bodyPr wrap="square" lIns="0" tIns="0" rIns="0" bIns="0" rtlCol="0" anchor="t"/>
          <a:lstStyle/>
          <a:p>
            <a:pPr algn="ctr" indent="0" marL="0">
              <a:buNone/>
            </a:pPr>
            <a:r>
              <a:rPr lang="en-US" sz="1600" b="1" dirty="0">
                <a:solidFill>
                  <a:schemeClr val="tx1"/>
                </a:solidFill>
              </a:rPr>
              <a:t>RMSE</a:t>
            </a:r>
            <a:endParaRPr lang="en-US" sz="1600" dirty="0"/>
          </a:p>
        </p:txBody>
      </p:sp>
      <p:sp>
        <p:nvSpPr>
          <p:cNvPr id="11" name="Text 8"/>
          <p:cNvSpPr txBox="1"/>
          <p:nvPr/>
        </p:nvSpPr>
        <p:spPr>
          <a:xfrm>
            <a:off x="2560320" y="2560320"/>
            <a:ext cx="1920240" cy="274320"/>
          </a:xfrm>
          <a:prstGeom prst="rect">
            <a:avLst/>
          </a:prstGeom>
          <a:noFill/>
          <a:ln/>
        </p:spPr>
        <p:txBody>
          <a:bodyPr wrap="square" lIns="0" tIns="0" rIns="0" bIns="0" rtlCol="0" anchor="t"/>
          <a:lstStyle/>
          <a:p>
            <a:pPr algn="ctr" indent="0" marL="0">
              <a:buNone/>
            </a:pPr>
            <a:r>
              <a:rPr lang="en-US" sz="1200" dirty="0">
                <a:solidFill>
                  <a:schemeClr val="tx2"/>
                </a:solidFill>
              </a:rPr>
              <a:t>√MSE = √6</a:t>
            </a:r>
            <a:endParaRPr lang="en-US" sz="1200" dirty="0"/>
          </a:p>
        </p:txBody>
      </p:sp>
      <p:sp>
        <p:nvSpPr>
          <p:cNvPr id="12" name="Card 16"/>
          <p:cNvSpPr/>
          <p:nvPr/>
        </p:nvSpPr>
        <p:spPr>
          <a:xfrm>
            <a:off x="4663440" y="1234440"/>
            <a:ext cx="1920240" cy="1783080"/>
          </a:xfrm>
          <a:prstGeom prst="roundRect">
            <a:avLst>
              <a:gd name="adj" fmla="val 5128"/>
            </a:avLst>
          </a:prstGeom>
          <a:solidFill>
            <a:schemeClr val="bg2"/>
          </a:solidFill>
          <a:ln/>
        </p:spPr>
      </p:sp>
      <p:sp>
        <p:nvSpPr>
          <p:cNvPr id="13" name="Text 10"/>
          <p:cNvSpPr txBox="1"/>
          <p:nvPr/>
        </p:nvSpPr>
        <p:spPr>
          <a:xfrm>
            <a:off x="4663440" y="1371600"/>
            <a:ext cx="1920240" cy="777240"/>
          </a:xfrm>
          <a:prstGeom prst="rect">
            <a:avLst/>
          </a:prstGeom>
          <a:noFill/>
          <a:ln/>
        </p:spPr>
        <p:txBody>
          <a:bodyPr wrap="square" lIns="0" tIns="0" rIns="0" bIns="0" rtlCol="0" anchor="ctr"/>
          <a:lstStyle/>
          <a:p>
            <a:pPr algn="ctr" indent="0" marL="0">
              <a:buNone/>
            </a:pPr>
            <a:r>
              <a:rPr lang="en-US" sz="4000" b="1" dirty="0">
                <a:solidFill>
                  <a:schemeClr val="accent1"/>
                </a:solidFill>
              </a:rPr>
              <a:t>2.4</a:t>
            </a:r>
            <a:endParaRPr lang="en-US" sz="4000" dirty="0"/>
          </a:p>
        </p:txBody>
      </p:sp>
      <p:sp>
        <p:nvSpPr>
          <p:cNvPr id="14" name="Text 11"/>
          <p:cNvSpPr txBox="1"/>
          <p:nvPr/>
        </p:nvSpPr>
        <p:spPr>
          <a:xfrm>
            <a:off x="4663440" y="2194560"/>
            <a:ext cx="1920240" cy="320040"/>
          </a:xfrm>
          <a:prstGeom prst="rect">
            <a:avLst/>
          </a:prstGeom>
          <a:noFill/>
          <a:ln/>
        </p:spPr>
        <p:txBody>
          <a:bodyPr wrap="square" lIns="0" tIns="0" rIns="0" bIns="0" rtlCol="0" anchor="t"/>
          <a:lstStyle/>
          <a:p>
            <a:pPr algn="ctr" indent="0" marL="0">
              <a:buNone/>
            </a:pPr>
            <a:r>
              <a:rPr lang="en-US" sz="1600" b="1" dirty="0">
                <a:solidFill>
                  <a:schemeClr val="tx1"/>
                </a:solidFill>
              </a:rPr>
              <a:t>MAE</a:t>
            </a:r>
            <a:endParaRPr lang="en-US" sz="1600" dirty="0"/>
          </a:p>
        </p:txBody>
      </p:sp>
      <p:sp>
        <p:nvSpPr>
          <p:cNvPr id="15" name="Text 12"/>
          <p:cNvSpPr txBox="1"/>
          <p:nvPr/>
        </p:nvSpPr>
        <p:spPr>
          <a:xfrm>
            <a:off x="4663440" y="2560320"/>
            <a:ext cx="1920240" cy="274320"/>
          </a:xfrm>
          <a:prstGeom prst="rect">
            <a:avLst/>
          </a:prstGeom>
          <a:noFill/>
          <a:ln/>
        </p:spPr>
        <p:txBody>
          <a:bodyPr wrap="square" lIns="0" tIns="0" rIns="0" bIns="0" rtlCol="0" anchor="t"/>
          <a:lstStyle/>
          <a:p>
            <a:pPr algn="ctr" indent="0" marL="0">
              <a:buNone/>
            </a:pPr>
            <a:r>
              <a:rPr lang="en-US" sz="1200" dirty="0">
                <a:solidFill>
                  <a:schemeClr val="tx2"/>
                </a:solidFill>
              </a:rPr>
              <a:t>mean of |error|</a:t>
            </a:r>
            <a:endParaRPr lang="en-US" sz="1200" dirty="0"/>
          </a:p>
        </p:txBody>
      </p:sp>
      <p:sp>
        <p:nvSpPr>
          <p:cNvPr id="16" name="Card 17"/>
          <p:cNvSpPr/>
          <p:nvPr/>
        </p:nvSpPr>
        <p:spPr>
          <a:xfrm>
            <a:off x="6766560" y="1234440"/>
            <a:ext cx="1920240" cy="1783080"/>
          </a:xfrm>
          <a:prstGeom prst="roundRect">
            <a:avLst>
              <a:gd name="adj" fmla="val 5128"/>
            </a:avLst>
          </a:prstGeom>
          <a:solidFill>
            <a:schemeClr val="bg2"/>
          </a:solidFill>
          <a:ln/>
        </p:spPr>
      </p:sp>
      <p:sp>
        <p:nvSpPr>
          <p:cNvPr id="17" name="Text 14"/>
          <p:cNvSpPr txBox="1"/>
          <p:nvPr/>
        </p:nvSpPr>
        <p:spPr>
          <a:xfrm>
            <a:off x="6766560" y="1371600"/>
            <a:ext cx="1920240" cy="777240"/>
          </a:xfrm>
          <a:prstGeom prst="rect">
            <a:avLst/>
          </a:prstGeom>
          <a:noFill/>
          <a:ln/>
        </p:spPr>
        <p:txBody>
          <a:bodyPr wrap="square" lIns="0" tIns="0" rIns="0" bIns="0" rtlCol="0" anchor="ctr"/>
          <a:lstStyle/>
          <a:p>
            <a:pPr algn="ctr" indent="0" marL="0">
              <a:buNone/>
            </a:pPr>
            <a:r>
              <a:rPr lang="en-US" sz="4000" b="1" dirty="0">
                <a:solidFill>
                  <a:schemeClr val="accent1"/>
                </a:solidFill>
              </a:rPr>
              <a:t>6.0</a:t>
            </a:r>
            <a:endParaRPr lang="en-US" sz="4000" dirty="0"/>
          </a:p>
        </p:txBody>
      </p:sp>
      <p:sp>
        <p:nvSpPr>
          <p:cNvPr id="18" name="Text 15"/>
          <p:cNvSpPr txBox="1"/>
          <p:nvPr/>
        </p:nvSpPr>
        <p:spPr>
          <a:xfrm>
            <a:off x="6766560" y="2194560"/>
            <a:ext cx="1920240" cy="320040"/>
          </a:xfrm>
          <a:prstGeom prst="rect">
            <a:avLst/>
          </a:prstGeom>
          <a:noFill/>
          <a:ln/>
        </p:spPr>
        <p:txBody>
          <a:bodyPr wrap="square" lIns="0" tIns="0" rIns="0" bIns="0" rtlCol="0" anchor="t"/>
          <a:lstStyle/>
          <a:p>
            <a:pPr algn="ctr" indent="0" marL="0">
              <a:buNone/>
            </a:pPr>
            <a:r>
              <a:rPr lang="en-US" sz="1600" b="1" dirty="0">
                <a:solidFill>
                  <a:schemeClr val="tx1"/>
                </a:solidFill>
              </a:rPr>
              <a:t>MSE</a:t>
            </a:r>
            <a:endParaRPr lang="en-US" sz="1600" dirty="0"/>
          </a:p>
        </p:txBody>
      </p:sp>
      <p:sp>
        <p:nvSpPr>
          <p:cNvPr id="19" name="Text 16"/>
          <p:cNvSpPr txBox="1"/>
          <p:nvPr/>
        </p:nvSpPr>
        <p:spPr>
          <a:xfrm>
            <a:off x="6766560" y="2560320"/>
            <a:ext cx="1920240" cy="274320"/>
          </a:xfrm>
          <a:prstGeom prst="rect">
            <a:avLst/>
          </a:prstGeom>
          <a:noFill/>
          <a:ln/>
        </p:spPr>
        <p:txBody>
          <a:bodyPr wrap="square" lIns="0" tIns="0" rIns="0" bIns="0" rtlCol="0" anchor="t"/>
          <a:lstStyle/>
          <a:p>
            <a:pPr algn="ctr" indent="0" marL="0">
              <a:buNone/>
            </a:pPr>
            <a:r>
              <a:rPr lang="en-US" sz="1200" dirty="0">
                <a:solidFill>
                  <a:schemeClr val="tx2"/>
                </a:solidFill>
              </a:rPr>
              <a:t>SSE / n = 30 / 5</a:t>
            </a:r>
            <a:endParaRPr lang="en-US" sz="1200" dirty="0"/>
          </a:p>
        </p:txBody>
      </p:sp>
      <p:sp>
        <p:nvSpPr>
          <p:cNvPr id="20" name="Card 18"/>
          <p:cNvSpPr/>
          <p:nvPr/>
        </p:nvSpPr>
        <p:spPr>
          <a:xfrm>
            <a:off x="457200" y="3246120"/>
            <a:ext cx="8229600" cy="1280160"/>
          </a:xfrm>
          <a:prstGeom prst="roundRect">
            <a:avLst>
              <a:gd name="adj" fmla="val 7143"/>
            </a:avLst>
          </a:prstGeom>
          <a:solidFill>
            <a:schemeClr val="bg2"/>
          </a:solidFill>
          <a:ln/>
        </p:spPr>
      </p:sp>
      <p:sp>
        <p:nvSpPr>
          <p:cNvPr id="21" name="Text 18"/>
          <p:cNvSpPr txBox="1"/>
          <p:nvPr/>
        </p:nvSpPr>
        <p:spPr>
          <a:xfrm>
            <a:off x="731520" y="3383280"/>
            <a:ext cx="7680960" cy="1005840"/>
          </a:xfrm>
          <a:prstGeom prst="rect">
            <a:avLst/>
          </a:prstGeom>
          <a:noFill/>
          <a:ln/>
        </p:spPr>
        <p:txBody>
          <a:bodyPr wrap="square" lIns="0" tIns="0" rIns="0" bIns="0" rtlCol="0" anchor="ctr"/>
          <a:lstStyle/>
          <a:p>
            <a:pPr marL="190500" indent="-190500">
              <a:spcAft>
                <a:spcPts val="600"/>
              </a:spcAft>
              <a:buSzPct val="100000"/>
              <a:buChar char="•"/>
            </a:pPr>
            <a:r>
              <a:rPr lang="en-US" sz="1400" dirty="0">
                <a:solidFill>
                  <a:schemeClr val="tx1"/>
                </a:solidFill>
              </a:rPr>
              <a:t>R² is the share of variance in y the model explains: here 94%.</a:t>
            </a:r>
            <a:endParaRPr lang="en-US" sz="1400" dirty="0"/>
          </a:p>
          <a:p>
            <a:pPr marL="190500" indent="-190500">
              <a:spcAft>
                <a:spcPts val="600"/>
              </a:spcAft>
              <a:buSzPct val="100000"/>
              <a:buChar char="•"/>
            </a:pPr>
            <a:r>
              <a:rPr lang="en-US" sz="1400" dirty="0">
                <a:solidFill>
                  <a:schemeClr val="tx1"/>
                </a:solidFill>
              </a:rPr>
              <a:t>RMSE is in the units of y: a typical miss is about 2.4 points.</a:t>
            </a:r>
            <a:endParaRPr lang="en-US" sz="1400" dirty="0"/>
          </a:p>
          <a:p>
            <a:pPr marL="190500" indent="-190500">
              <a:spcAft>
                <a:spcPts val="600"/>
              </a:spcAft>
              <a:buSzPct val="100000"/>
              <a:buChar char="•"/>
            </a:pPr>
            <a:r>
              <a:rPr lang="en-US" sz="1400" dirty="0">
                <a:solidFill>
                  <a:schemeClr val="tx1"/>
                </a:solidFill>
              </a:rPr>
              <a:t>Judge on held-out test data, not on the data used to fit the model.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Multiple linear regression</a:t>
            </a:r>
            <a:endParaRPr lang="en-US" sz="3600" dirty="0"/>
          </a:p>
        </p:txBody>
      </p:sp>
      <p:sp>
        <p:nvSpPr>
          <p:cNvPr id="4" name="Card 19"/>
          <p:cNvSpPr/>
          <p:nvPr/>
        </p:nvSpPr>
        <p:spPr>
          <a:xfrm>
            <a:off x="457200" y="1188720"/>
            <a:ext cx="8229600" cy="731520"/>
          </a:xfrm>
          <a:prstGeom prst="roundRect">
            <a:avLst>
              <a:gd name="adj" fmla="val 12500"/>
            </a:avLst>
          </a:prstGeom>
          <a:solidFill>
            <a:schemeClr val="bg2"/>
          </a:solidFill>
          <a:ln/>
        </p:spPr>
      </p:sp>
      <p:sp>
        <p:nvSpPr>
          <p:cNvPr id="5" name="Text 2"/>
          <p:cNvSpPr txBox="1"/>
          <p:nvPr/>
        </p:nvSpPr>
        <p:spPr>
          <a:xfrm>
            <a:off x="457200" y="1188720"/>
            <a:ext cx="8229600" cy="731520"/>
          </a:xfrm>
          <a:prstGeom prst="rect">
            <a:avLst/>
          </a:prstGeom>
          <a:noFill/>
          <a:ln/>
        </p:spPr>
        <p:txBody>
          <a:bodyPr wrap="square" lIns="0" tIns="0" rIns="0" bIns="0" rtlCol="0" anchor="ctr"/>
          <a:lstStyle/>
          <a:p>
            <a:pPr algn="ctr" indent="0" marL="0">
              <a:buNone/>
            </a:pPr>
            <a:r>
              <a:rPr lang="en-US" sz="2400" b="1" dirty="0">
                <a:solidFill>
                  <a:schemeClr val="accent1"/>
                </a:solidFill>
              </a:rPr>
              <a:t>ŷ = b</a:t>
            </a:r>
            <a:pPr algn="ctr" indent="0" marL="0">
              <a:buNone/>
            </a:pPr>
            <a:r>
              <a:rPr lang="en-US" sz="2400" b="1" baseline="-40000" dirty="0">
                <a:solidFill>
                  <a:schemeClr val="accent1"/>
                </a:solidFill>
              </a:rPr>
              <a:t>0</a:t>
            </a:r>
            <a:pPr algn="ctr" indent="0" marL="0">
              <a:buNone/>
            </a:pPr>
            <a:r>
              <a:rPr lang="en-US" sz="2400" b="1" dirty="0">
                <a:solidFill>
                  <a:schemeClr val="accent1"/>
                </a:solidFill>
              </a:rPr>
              <a:t> + b</a:t>
            </a:r>
            <a:pPr algn="ctr" indent="0" marL="0">
              <a:buNone/>
            </a:pPr>
            <a:r>
              <a:rPr lang="en-US" sz="2400" b="1" baseline="-40000" dirty="0">
                <a:solidFill>
                  <a:schemeClr val="accent1"/>
                </a:solidFill>
              </a:rPr>
              <a:t>1</a:t>
            </a:r>
            <a:pPr algn="ctr" indent="0" marL="0">
              <a:buNone/>
            </a:pPr>
            <a:r>
              <a:rPr lang="en-US" sz="2400" b="1" dirty="0">
                <a:solidFill>
                  <a:schemeClr val="accent1"/>
                </a:solidFill>
              </a:rPr>
              <a:t>x</a:t>
            </a:r>
            <a:pPr algn="ctr" indent="0" marL="0">
              <a:buNone/>
            </a:pPr>
            <a:r>
              <a:rPr lang="en-US" sz="2400" b="1" baseline="-40000" dirty="0">
                <a:solidFill>
                  <a:schemeClr val="accent1"/>
                </a:solidFill>
              </a:rPr>
              <a:t>1</a:t>
            </a:r>
            <a:pPr algn="ctr" indent="0" marL="0">
              <a:buNone/>
            </a:pPr>
            <a:r>
              <a:rPr lang="en-US" sz="2400" b="1" dirty="0">
                <a:solidFill>
                  <a:schemeClr val="accent1"/>
                </a:solidFill>
              </a:rPr>
              <a:t> + b</a:t>
            </a:r>
            <a:pPr algn="ctr" indent="0" marL="0">
              <a:buNone/>
            </a:pPr>
            <a:r>
              <a:rPr lang="en-US" sz="2400" b="1" baseline="-40000" dirty="0">
                <a:solidFill>
                  <a:schemeClr val="accent1"/>
                </a:solidFill>
              </a:rPr>
              <a:t>2</a:t>
            </a:r>
            <a:pPr algn="ctr" indent="0" marL="0">
              <a:buNone/>
            </a:pPr>
            <a:r>
              <a:rPr lang="en-US" sz="2400" b="1" dirty="0">
                <a:solidFill>
                  <a:schemeClr val="accent1"/>
                </a:solidFill>
              </a:rPr>
              <a:t>x</a:t>
            </a:r>
            <a:pPr algn="ctr" indent="0" marL="0">
              <a:buNone/>
            </a:pPr>
            <a:r>
              <a:rPr lang="en-US" sz="2400" b="1" baseline="-40000" dirty="0">
                <a:solidFill>
                  <a:schemeClr val="accent1"/>
                </a:solidFill>
              </a:rPr>
              <a:t>2</a:t>
            </a:r>
            <a:pPr algn="ctr" indent="0" marL="0">
              <a:buNone/>
            </a:pPr>
            <a:r>
              <a:rPr lang="en-US" sz="2400" b="1" dirty="0">
                <a:solidFill>
                  <a:schemeClr val="accent1"/>
                </a:solidFill>
              </a:rPr>
              <a:t> + … + b</a:t>
            </a:r>
            <a:pPr algn="ctr" indent="0" marL="0">
              <a:buNone/>
            </a:pPr>
            <a:r>
              <a:rPr lang="en-US" sz="2400" b="1" baseline="-40000" dirty="0">
                <a:solidFill>
                  <a:schemeClr val="accent1"/>
                </a:solidFill>
              </a:rPr>
              <a:t>p</a:t>
            </a:r>
            <a:pPr algn="ctr" indent="0" marL="0">
              <a:buNone/>
            </a:pPr>
            <a:r>
              <a:rPr lang="en-US" sz="2400" b="1" dirty="0">
                <a:solidFill>
                  <a:schemeClr val="accent1"/>
                </a:solidFill>
              </a:rPr>
              <a:t>x</a:t>
            </a:r>
            <a:pPr algn="ctr" indent="0" marL="0">
              <a:buNone/>
            </a:pPr>
            <a:r>
              <a:rPr lang="en-US" sz="2400" b="1" baseline="-40000" dirty="0">
                <a:solidFill>
                  <a:schemeClr val="accent1"/>
                </a:solidFill>
              </a:rPr>
              <a:t>p</a:t>
            </a:r>
            <a:endParaRPr lang="en-US" sz="2400" dirty="0"/>
          </a:p>
        </p:txBody>
      </p:sp>
      <p:sp>
        <p:nvSpPr>
          <p:cNvPr id="6" name="Card 20"/>
          <p:cNvSpPr/>
          <p:nvPr/>
        </p:nvSpPr>
        <p:spPr>
          <a:xfrm>
            <a:off x="457200" y="2103120"/>
            <a:ext cx="2560320" cy="1783080"/>
          </a:xfrm>
          <a:prstGeom prst="roundRect">
            <a:avLst>
              <a:gd name="adj" fmla="val 5128"/>
            </a:avLst>
          </a:prstGeom>
          <a:solidFill>
            <a:schemeClr val="bg2"/>
          </a:solidFill>
          <a:ln/>
        </p:spPr>
      </p:sp>
      <p:sp>
        <p:nvSpPr>
          <p:cNvPr id="7" name="Badge 21"/>
          <p:cNvSpPr/>
          <p:nvPr/>
        </p:nvSpPr>
        <p:spPr>
          <a:xfrm>
            <a:off x="594360" y="2240280"/>
            <a:ext cx="457200" cy="457200"/>
          </a:xfrm>
          <a:prstGeom prst="ellipse">
            <a:avLst/>
          </a:prstGeom>
          <a:solidFill>
            <a:schemeClr val="accent1"/>
          </a:solidFill>
          <a:ln/>
        </p:spPr>
      </p:sp>
      <p:pic>
        <p:nvPicPr>
          <p:cNvPr id="8" name="Image 0" descr="LayerGroup icon">    </p:cNvPr>
          <p:cNvPicPr>
            <a:picLocks noChangeAspect="1"/>
          </p:cNvPicPr>
          <p:nvPr/>
        </p:nvPicPr>
        <p:blipFill>
          <a:blip r:embed="rId1"/>
          <a:stretch>
            <a:fillRect/>
          </a:stretch>
        </p:blipFill>
        <p:spPr>
          <a:xfrm>
            <a:off x="708660" y="2354580"/>
            <a:ext cx="228600" cy="228600"/>
          </a:xfrm>
          <a:prstGeom prst="rect">
            <a:avLst/>
          </a:prstGeom>
        </p:spPr>
      </p:pic>
      <p:sp>
        <p:nvSpPr>
          <p:cNvPr id="9" name="Text 5"/>
          <p:cNvSpPr txBox="1"/>
          <p:nvPr/>
        </p:nvSpPr>
        <p:spPr>
          <a:xfrm>
            <a:off x="1188720" y="2240280"/>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Each coefficient</a:t>
            </a:r>
            <a:endParaRPr lang="en-US" sz="1600" dirty="0"/>
          </a:p>
        </p:txBody>
      </p:sp>
      <p:sp>
        <p:nvSpPr>
          <p:cNvPr id="10" name="Text 6"/>
          <p:cNvSpPr txBox="1"/>
          <p:nvPr/>
        </p:nvSpPr>
        <p:spPr>
          <a:xfrm>
            <a:off x="594360" y="2834640"/>
            <a:ext cx="2286000" cy="960120"/>
          </a:xfrm>
          <a:prstGeom prst="rect">
            <a:avLst/>
          </a:prstGeom>
          <a:noFill/>
          <a:ln/>
        </p:spPr>
        <p:txBody>
          <a:bodyPr wrap="square" lIns="0" tIns="0" rIns="0" bIns="0" rtlCol="0" anchor="t"/>
          <a:lstStyle/>
          <a:p>
            <a:pPr indent="0" marL="0">
              <a:buNone/>
            </a:pPr>
            <a:r>
              <a:rPr lang="en-US" sz="1400" dirty="0">
                <a:solidFill>
                  <a:schemeClr val="tx1"/>
                </a:solidFill>
              </a:rPr>
              <a:t>The effect of one feature while holding the others fixed.</a:t>
            </a:r>
            <a:endParaRPr lang="en-US" sz="1400" dirty="0"/>
          </a:p>
        </p:txBody>
      </p:sp>
      <p:sp>
        <p:nvSpPr>
          <p:cNvPr id="11" name="Card 22"/>
          <p:cNvSpPr/>
          <p:nvPr/>
        </p:nvSpPr>
        <p:spPr>
          <a:xfrm>
            <a:off x="3291840" y="2103120"/>
            <a:ext cx="2560320" cy="1783080"/>
          </a:xfrm>
          <a:prstGeom prst="roundRect">
            <a:avLst>
              <a:gd name="adj" fmla="val 5128"/>
            </a:avLst>
          </a:prstGeom>
          <a:solidFill>
            <a:schemeClr val="bg2"/>
          </a:solidFill>
          <a:ln/>
        </p:spPr>
      </p:sp>
      <p:sp>
        <p:nvSpPr>
          <p:cNvPr id="12" name="Badge 23"/>
          <p:cNvSpPr/>
          <p:nvPr/>
        </p:nvSpPr>
        <p:spPr>
          <a:xfrm>
            <a:off x="3429000" y="2240280"/>
            <a:ext cx="457200" cy="457200"/>
          </a:xfrm>
          <a:prstGeom prst="ellipse">
            <a:avLst/>
          </a:prstGeom>
          <a:solidFill>
            <a:schemeClr val="accent1"/>
          </a:solidFill>
          <a:ln/>
        </p:spPr>
      </p:sp>
      <p:pic>
        <p:nvPicPr>
          <p:cNvPr id="13" name="Image 1" descr="Th icon">    </p:cNvPr>
          <p:cNvPicPr>
            <a:picLocks noChangeAspect="1"/>
          </p:cNvPicPr>
          <p:nvPr/>
        </p:nvPicPr>
        <p:blipFill>
          <a:blip r:embed="rId2"/>
          <a:stretch>
            <a:fillRect/>
          </a:stretch>
        </p:blipFill>
        <p:spPr>
          <a:xfrm>
            <a:off x="3543300" y="2354580"/>
            <a:ext cx="228600" cy="228600"/>
          </a:xfrm>
          <a:prstGeom prst="rect">
            <a:avLst/>
          </a:prstGeom>
        </p:spPr>
      </p:pic>
      <p:sp>
        <p:nvSpPr>
          <p:cNvPr id="14" name="Text 9"/>
          <p:cNvSpPr txBox="1"/>
          <p:nvPr/>
        </p:nvSpPr>
        <p:spPr>
          <a:xfrm>
            <a:off x="4023360" y="2240280"/>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Categorical features</a:t>
            </a:r>
            <a:endParaRPr lang="en-US" sz="1600" dirty="0"/>
          </a:p>
        </p:txBody>
      </p:sp>
      <p:sp>
        <p:nvSpPr>
          <p:cNvPr id="15" name="Text 10"/>
          <p:cNvSpPr txBox="1"/>
          <p:nvPr/>
        </p:nvSpPr>
        <p:spPr>
          <a:xfrm>
            <a:off x="3429000" y="2834640"/>
            <a:ext cx="2286000" cy="960120"/>
          </a:xfrm>
          <a:prstGeom prst="rect">
            <a:avLst/>
          </a:prstGeom>
          <a:noFill/>
          <a:ln/>
        </p:spPr>
        <p:txBody>
          <a:bodyPr wrap="square" lIns="0" tIns="0" rIns="0" bIns="0" rtlCol="0" anchor="t"/>
          <a:lstStyle/>
          <a:p>
            <a:pPr indent="0" marL="0">
              <a:buNone/>
            </a:pPr>
            <a:r>
              <a:rPr lang="en-US" sz="1400" dirty="0">
                <a:solidFill>
                  <a:schemeClr val="tx1"/>
                </a:solidFill>
              </a:rPr>
              <a:t>Encode as 0/1 dummy columns and drop one as the baseline.</a:t>
            </a:r>
            <a:endParaRPr lang="en-US" sz="1400" dirty="0"/>
          </a:p>
        </p:txBody>
      </p:sp>
      <p:sp>
        <p:nvSpPr>
          <p:cNvPr id="16" name="Card 24"/>
          <p:cNvSpPr/>
          <p:nvPr/>
        </p:nvSpPr>
        <p:spPr>
          <a:xfrm>
            <a:off x="6126480" y="2103120"/>
            <a:ext cx="2560320" cy="1783080"/>
          </a:xfrm>
          <a:prstGeom prst="roundRect">
            <a:avLst>
              <a:gd name="adj" fmla="val 5128"/>
            </a:avLst>
          </a:prstGeom>
          <a:solidFill>
            <a:schemeClr val="bg2"/>
          </a:solidFill>
          <a:ln/>
        </p:spPr>
      </p:sp>
      <p:sp>
        <p:nvSpPr>
          <p:cNvPr id="17" name="Badge 25"/>
          <p:cNvSpPr/>
          <p:nvPr/>
        </p:nvSpPr>
        <p:spPr>
          <a:xfrm>
            <a:off x="6263640" y="2240280"/>
            <a:ext cx="457200" cy="457200"/>
          </a:xfrm>
          <a:prstGeom prst="ellipse">
            <a:avLst/>
          </a:prstGeom>
          <a:solidFill>
            <a:schemeClr val="accent1"/>
          </a:solidFill>
          <a:ln/>
        </p:spPr>
      </p:sp>
      <p:pic>
        <p:nvPicPr>
          <p:cNvPr id="18" name="Image 2" descr="RulerCombined icon">    </p:cNvPr>
          <p:cNvPicPr>
            <a:picLocks noChangeAspect="1"/>
          </p:cNvPicPr>
          <p:nvPr/>
        </p:nvPicPr>
        <p:blipFill>
          <a:blip r:embed="rId3"/>
          <a:stretch>
            <a:fillRect/>
          </a:stretch>
        </p:blipFill>
        <p:spPr>
          <a:xfrm>
            <a:off x="6377940" y="2354580"/>
            <a:ext cx="228600" cy="228600"/>
          </a:xfrm>
          <a:prstGeom prst="rect">
            <a:avLst/>
          </a:prstGeom>
        </p:spPr>
      </p:pic>
      <p:sp>
        <p:nvSpPr>
          <p:cNvPr id="19" name="Text 13"/>
          <p:cNvSpPr txBox="1"/>
          <p:nvPr/>
        </p:nvSpPr>
        <p:spPr>
          <a:xfrm>
            <a:off x="6858000" y="2240280"/>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Scale features</a:t>
            </a:r>
            <a:endParaRPr lang="en-US" sz="1600" dirty="0"/>
          </a:p>
        </p:txBody>
      </p:sp>
      <p:sp>
        <p:nvSpPr>
          <p:cNvPr id="20" name="Text 14"/>
          <p:cNvSpPr txBox="1"/>
          <p:nvPr/>
        </p:nvSpPr>
        <p:spPr>
          <a:xfrm>
            <a:off x="6263640" y="2834640"/>
            <a:ext cx="2286000" cy="960120"/>
          </a:xfrm>
          <a:prstGeom prst="rect">
            <a:avLst/>
          </a:prstGeom>
          <a:noFill/>
          <a:ln/>
        </p:spPr>
        <p:txBody>
          <a:bodyPr wrap="square" lIns="0" tIns="0" rIns="0" bIns="0" rtlCol="0" anchor="t"/>
          <a:lstStyle/>
          <a:p>
            <a:pPr indent="0" marL="0">
              <a:buNone/>
            </a:pPr>
            <a:r>
              <a:rPr lang="en-US" sz="1400" dirty="0">
                <a:solidFill>
                  <a:schemeClr val="tx1"/>
                </a:solidFill>
              </a:rPr>
              <a:t>Standardise so coefficients compare fairly and training is stable.</a:t>
            </a:r>
            <a:endParaRPr lang="en-US" sz="1400" dirty="0"/>
          </a:p>
        </p:txBody>
      </p:sp>
      <p:sp>
        <p:nvSpPr>
          <p:cNvPr id="21" name="Card 26"/>
          <p:cNvSpPr/>
          <p:nvPr/>
        </p:nvSpPr>
        <p:spPr>
          <a:xfrm>
            <a:off x="457200" y="4023360"/>
            <a:ext cx="8229600" cy="548640"/>
          </a:xfrm>
          <a:prstGeom prst="roundRect">
            <a:avLst>
              <a:gd name="adj" fmla="val 16667"/>
            </a:avLst>
          </a:prstGeom>
          <a:solidFill>
            <a:schemeClr val="bg2"/>
          </a:solidFill>
          <a:ln/>
        </p:spPr>
      </p:sp>
      <p:sp>
        <p:nvSpPr>
          <p:cNvPr id="22" name="Text 16"/>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600" b="1" dirty="0">
                <a:solidFill>
                  <a:schemeClr val="tx1"/>
                </a:solidFill>
              </a:rPr>
              <a:t>Normal equation:  β = (X</a:t>
            </a:r>
            <a:pPr algn="ctr" indent="0" marL="0">
              <a:buNone/>
            </a:pPr>
            <a:r>
              <a:rPr lang="en-US" sz="1600" b="1" baseline="30000" dirty="0">
                <a:solidFill>
                  <a:schemeClr val="tx1"/>
                </a:solidFill>
              </a:rPr>
              <a:t>T</a:t>
            </a:r>
            <a:pPr algn="ctr" indent="0" marL="0">
              <a:buNone/>
            </a:pPr>
            <a:r>
              <a:rPr lang="en-US" sz="1600" b="1" dirty="0">
                <a:solidFill>
                  <a:schemeClr val="tx1"/>
                </a:solidFill>
              </a:rPr>
              <a:t>X)</a:t>
            </a:r>
            <a:pPr algn="ctr" indent="0" marL="0">
              <a:buNone/>
            </a:pPr>
            <a:r>
              <a:rPr lang="en-US" sz="1600" b="1" baseline="30000" dirty="0">
                <a:solidFill>
                  <a:schemeClr val="tx1"/>
                </a:solidFill>
              </a:rPr>
              <a:t>−1</a:t>
            </a:r>
            <a:pPr algn="ctr" indent="0" marL="0">
              <a:buNone/>
            </a:pPr>
            <a:r>
              <a:rPr lang="en-US" sz="1600" b="1" dirty="0">
                <a:solidFill>
                  <a:schemeClr val="tx1"/>
                </a:solidFill>
              </a:rPr>
              <a:t> X</a:t>
            </a:r>
            <a:pPr algn="ctr" indent="0" marL="0">
              <a:buNone/>
            </a:pPr>
            <a:r>
              <a:rPr lang="en-US" sz="1600" b="1" baseline="30000" dirty="0">
                <a:solidFill>
                  <a:schemeClr val="tx1"/>
                </a:solidFill>
              </a:rPr>
              <a:t>T</a:t>
            </a:r>
            <a:pPr algn="ctr" indent="0" marL="0">
              <a:buNone/>
            </a:pPr>
            <a:r>
              <a:rPr lang="en-US" sz="1600" b="1" dirty="0">
                <a:solidFill>
                  <a:schemeClr val="tx1"/>
                </a:solidFill>
              </a:rPr>
              <a:t> 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Four assumptions (LINE)</a:t>
            </a:r>
            <a:endParaRPr lang="en-US" sz="3600" dirty="0"/>
          </a:p>
        </p:txBody>
      </p:sp>
      <p:sp>
        <p:nvSpPr>
          <p:cNvPr id="4" name="Card 27"/>
          <p:cNvSpPr/>
          <p:nvPr/>
        </p:nvSpPr>
        <p:spPr>
          <a:xfrm>
            <a:off x="457200" y="1188720"/>
            <a:ext cx="3977640" cy="1554480"/>
          </a:xfrm>
          <a:prstGeom prst="roundRect">
            <a:avLst>
              <a:gd name="adj" fmla="val 5882"/>
            </a:avLst>
          </a:prstGeom>
          <a:solidFill>
            <a:schemeClr val="bg2"/>
          </a:solidFill>
          <a:ln/>
        </p:spPr>
      </p:sp>
      <p:sp>
        <p:nvSpPr>
          <p:cNvPr id="5" name="Letter L"/>
          <p:cNvSpPr txBox="1"/>
          <p:nvPr/>
        </p:nvSpPr>
        <p:spPr>
          <a:xfrm>
            <a:off x="640080" y="137160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L</a:t>
            </a:r>
            <a:endParaRPr lang="en-US" sz="2000" dirty="0"/>
          </a:p>
        </p:txBody>
      </p:sp>
      <p:sp>
        <p:nvSpPr>
          <p:cNvPr id="6" name="Text 3"/>
          <p:cNvSpPr txBox="1"/>
          <p:nvPr/>
        </p:nvSpPr>
        <p:spPr>
          <a:xfrm>
            <a:off x="1280160" y="137160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Linearity</a:t>
            </a:r>
            <a:endParaRPr lang="en-US" sz="1800" dirty="0"/>
          </a:p>
        </p:txBody>
      </p:sp>
      <p:sp>
        <p:nvSpPr>
          <p:cNvPr id="7" name="Text 4"/>
          <p:cNvSpPr txBox="1"/>
          <p:nvPr/>
        </p:nvSpPr>
        <p:spPr>
          <a:xfrm>
            <a:off x="640080" y="2011680"/>
            <a:ext cx="3611880" cy="685800"/>
          </a:xfrm>
          <a:prstGeom prst="rect">
            <a:avLst/>
          </a:prstGeom>
          <a:noFill/>
          <a:ln/>
        </p:spPr>
        <p:txBody>
          <a:bodyPr wrap="square" lIns="0" tIns="0" rIns="0" bIns="0" rtlCol="0" anchor="t"/>
          <a:lstStyle/>
          <a:p>
            <a:pPr indent="0" marL="0">
              <a:buNone/>
            </a:pPr>
            <a:r>
              <a:rPr lang="en-US" sz="1400" dirty="0">
                <a:solidFill>
                  <a:schemeClr val="tx1"/>
                </a:solidFill>
              </a:rPr>
              <a:t>y changes linearly with each x. Check: residuals vs fitted show no curve.</a:t>
            </a:r>
            <a:endParaRPr lang="en-US" sz="1400" dirty="0"/>
          </a:p>
        </p:txBody>
      </p:sp>
      <p:sp>
        <p:nvSpPr>
          <p:cNvPr id="8" name="Card 28"/>
          <p:cNvSpPr/>
          <p:nvPr/>
        </p:nvSpPr>
        <p:spPr>
          <a:xfrm>
            <a:off x="4709160" y="1188720"/>
            <a:ext cx="3977640" cy="1554480"/>
          </a:xfrm>
          <a:prstGeom prst="roundRect">
            <a:avLst>
              <a:gd name="adj" fmla="val 5882"/>
            </a:avLst>
          </a:prstGeom>
          <a:solidFill>
            <a:schemeClr val="bg2"/>
          </a:solidFill>
          <a:ln/>
        </p:spPr>
      </p:sp>
      <p:sp>
        <p:nvSpPr>
          <p:cNvPr id="9" name="Letter I"/>
          <p:cNvSpPr txBox="1"/>
          <p:nvPr/>
        </p:nvSpPr>
        <p:spPr>
          <a:xfrm>
            <a:off x="4892040" y="137160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I</a:t>
            </a:r>
            <a:endParaRPr lang="en-US" sz="2000" dirty="0"/>
          </a:p>
        </p:txBody>
      </p:sp>
      <p:sp>
        <p:nvSpPr>
          <p:cNvPr id="10" name="Text 7"/>
          <p:cNvSpPr txBox="1"/>
          <p:nvPr/>
        </p:nvSpPr>
        <p:spPr>
          <a:xfrm>
            <a:off x="5532120" y="137160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Independence</a:t>
            </a:r>
            <a:endParaRPr lang="en-US" sz="1800" dirty="0"/>
          </a:p>
        </p:txBody>
      </p:sp>
      <p:sp>
        <p:nvSpPr>
          <p:cNvPr id="11" name="Text 8"/>
          <p:cNvSpPr txBox="1"/>
          <p:nvPr/>
        </p:nvSpPr>
        <p:spPr>
          <a:xfrm>
            <a:off x="4892040" y="2011680"/>
            <a:ext cx="3611880" cy="685800"/>
          </a:xfrm>
          <a:prstGeom prst="rect">
            <a:avLst/>
          </a:prstGeom>
          <a:noFill/>
          <a:ln/>
        </p:spPr>
        <p:txBody>
          <a:bodyPr wrap="square" lIns="0" tIns="0" rIns="0" bIns="0" rtlCol="0" anchor="t"/>
          <a:lstStyle/>
          <a:p>
            <a:pPr indent="0" marL="0">
              <a:buNone/>
            </a:pPr>
            <a:r>
              <a:rPr lang="en-US" sz="1400" dirty="0">
                <a:solidFill>
                  <a:schemeClr val="tx1"/>
                </a:solidFill>
              </a:rPr>
              <a:t>Errors are not correlated, for example in time series. Check: Durbin-Watson.</a:t>
            </a:r>
            <a:endParaRPr lang="en-US" sz="1400" dirty="0"/>
          </a:p>
        </p:txBody>
      </p:sp>
      <p:sp>
        <p:nvSpPr>
          <p:cNvPr id="12" name="Card 29"/>
          <p:cNvSpPr/>
          <p:nvPr/>
        </p:nvSpPr>
        <p:spPr>
          <a:xfrm>
            <a:off x="457200" y="2971800"/>
            <a:ext cx="3977640" cy="1554480"/>
          </a:xfrm>
          <a:prstGeom prst="roundRect">
            <a:avLst>
              <a:gd name="adj" fmla="val 5882"/>
            </a:avLst>
          </a:prstGeom>
          <a:solidFill>
            <a:schemeClr val="bg2"/>
          </a:solidFill>
          <a:ln/>
        </p:spPr>
      </p:sp>
      <p:sp>
        <p:nvSpPr>
          <p:cNvPr id="13" name="Letter N"/>
          <p:cNvSpPr txBox="1"/>
          <p:nvPr/>
        </p:nvSpPr>
        <p:spPr>
          <a:xfrm>
            <a:off x="640080" y="31546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14" name="Text 11"/>
          <p:cNvSpPr txBox="1"/>
          <p:nvPr/>
        </p:nvSpPr>
        <p:spPr>
          <a:xfrm>
            <a:off x="1280160" y="315468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Normal errors</a:t>
            </a:r>
            <a:endParaRPr lang="en-US" sz="1800" dirty="0"/>
          </a:p>
        </p:txBody>
      </p:sp>
      <p:sp>
        <p:nvSpPr>
          <p:cNvPr id="15" name="Text 12"/>
          <p:cNvSpPr txBox="1"/>
          <p:nvPr/>
        </p:nvSpPr>
        <p:spPr>
          <a:xfrm>
            <a:off x="640080" y="3794760"/>
            <a:ext cx="3611880" cy="685800"/>
          </a:xfrm>
          <a:prstGeom prst="rect">
            <a:avLst/>
          </a:prstGeom>
          <a:noFill/>
          <a:ln/>
        </p:spPr>
        <p:txBody>
          <a:bodyPr wrap="square" lIns="0" tIns="0" rIns="0" bIns="0" rtlCol="0" anchor="t"/>
          <a:lstStyle/>
          <a:p>
            <a:pPr indent="0" marL="0">
              <a:buNone/>
            </a:pPr>
            <a:r>
              <a:rPr lang="en-US" sz="1400" dirty="0">
                <a:solidFill>
                  <a:schemeClr val="tx1"/>
                </a:solidFill>
              </a:rPr>
              <a:t>Residuals are roughly normal. Check: Q-Q plot. Matters most for small samples.</a:t>
            </a:r>
            <a:endParaRPr lang="en-US" sz="1400" dirty="0"/>
          </a:p>
        </p:txBody>
      </p:sp>
      <p:sp>
        <p:nvSpPr>
          <p:cNvPr id="16" name="Card 30"/>
          <p:cNvSpPr/>
          <p:nvPr/>
        </p:nvSpPr>
        <p:spPr>
          <a:xfrm>
            <a:off x="4709160" y="2971800"/>
            <a:ext cx="3977640" cy="1554480"/>
          </a:xfrm>
          <a:prstGeom prst="roundRect">
            <a:avLst>
              <a:gd name="adj" fmla="val 5882"/>
            </a:avLst>
          </a:prstGeom>
          <a:solidFill>
            <a:schemeClr val="bg2"/>
          </a:solidFill>
          <a:ln/>
        </p:spPr>
      </p:sp>
      <p:sp>
        <p:nvSpPr>
          <p:cNvPr id="17" name="Letter E"/>
          <p:cNvSpPr txBox="1"/>
          <p:nvPr/>
        </p:nvSpPr>
        <p:spPr>
          <a:xfrm>
            <a:off x="4892040" y="315468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E</a:t>
            </a:r>
            <a:endParaRPr lang="en-US" sz="2000" dirty="0"/>
          </a:p>
        </p:txBody>
      </p:sp>
      <p:sp>
        <p:nvSpPr>
          <p:cNvPr id="18" name="Text 15"/>
          <p:cNvSpPr txBox="1"/>
          <p:nvPr/>
        </p:nvSpPr>
        <p:spPr>
          <a:xfrm>
            <a:off x="5532120" y="315468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Equal variance</a:t>
            </a:r>
            <a:endParaRPr lang="en-US" sz="1800" dirty="0"/>
          </a:p>
        </p:txBody>
      </p:sp>
      <p:sp>
        <p:nvSpPr>
          <p:cNvPr id="19" name="Text 16"/>
          <p:cNvSpPr txBox="1"/>
          <p:nvPr/>
        </p:nvSpPr>
        <p:spPr>
          <a:xfrm>
            <a:off x="4892040" y="3794760"/>
            <a:ext cx="3611880" cy="685800"/>
          </a:xfrm>
          <a:prstGeom prst="rect">
            <a:avLst/>
          </a:prstGeom>
          <a:noFill/>
          <a:ln/>
        </p:spPr>
        <p:txBody>
          <a:bodyPr wrap="square" lIns="0" tIns="0" rIns="0" bIns="0" rtlCol="0" anchor="t"/>
          <a:lstStyle/>
          <a:p>
            <a:pPr indent="0" marL="0">
              <a:buNone/>
            </a:pPr>
            <a:r>
              <a:rPr lang="en-US" sz="1400" dirty="0">
                <a:solidFill>
                  <a:schemeClr val="tx1"/>
                </a:solidFill>
              </a:rPr>
              <a:t>Error spread is constant. Check: a fan shape in the residual plot is a warning.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The sigmoid function</a:t>
            </a:r>
            <a:endParaRPr lang="en-US" sz="3600" dirty="0"/>
          </a:p>
        </p:txBody>
      </p:sp>
      <p:sp>
        <p:nvSpPr>
          <p:cNvPr id="4" name="Card 31"/>
          <p:cNvSpPr/>
          <p:nvPr/>
        </p:nvSpPr>
        <p:spPr>
          <a:xfrm>
            <a:off x="457200" y="1234440"/>
            <a:ext cx="3931920" cy="914400"/>
          </a:xfrm>
          <a:prstGeom prst="roundRect">
            <a:avLst>
              <a:gd name="adj" fmla="val 10000"/>
            </a:avLst>
          </a:prstGeom>
          <a:solidFill>
            <a:schemeClr val="bg2"/>
          </a:solidFill>
          <a:ln/>
        </p:spPr>
      </p:sp>
      <p:sp>
        <p:nvSpPr>
          <p:cNvPr id="5" name="Text 2"/>
          <p:cNvSpPr txBox="1"/>
          <p:nvPr/>
        </p:nvSpPr>
        <p:spPr>
          <a:xfrm>
            <a:off x="457200" y="1234440"/>
            <a:ext cx="3931920" cy="914400"/>
          </a:xfrm>
          <a:prstGeom prst="rect">
            <a:avLst/>
          </a:prstGeom>
          <a:noFill/>
          <a:ln/>
        </p:spPr>
        <p:txBody>
          <a:bodyPr wrap="square" lIns="0" tIns="0" rIns="0" bIns="0" rtlCol="0" anchor="ctr"/>
          <a:lstStyle/>
          <a:p>
            <a:pPr algn="ctr" indent="0" marL="0">
              <a:buNone/>
            </a:pPr>
            <a:r>
              <a:rPr lang="en-US" sz="2600" b="1" dirty="0">
                <a:solidFill>
                  <a:schemeClr val="accent1"/>
                </a:solidFill>
              </a:rPr>
              <a:t>σ(z) = 1 / (1 + e</a:t>
            </a:r>
            <a:pPr algn="ctr" indent="0" marL="0">
              <a:buNone/>
            </a:pPr>
            <a:r>
              <a:rPr lang="en-US" sz="2600" b="1" baseline="30000" dirty="0">
                <a:solidFill>
                  <a:schemeClr val="accent1"/>
                </a:solidFill>
              </a:rPr>
              <a:t>−z</a:t>
            </a:r>
            <a:pPr algn="ctr" indent="0" marL="0">
              <a:buNone/>
            </a:pPr>
            <a:r>
              <a:rPr lang="en-US" sz="2600" b="1" dirty="0">
                <a:solidFill>
                  <a:schemeClr val="accent1"/>
                </a:solidFill>
              </a:rPr>
              <a:t>)</a:t>
            </a:r>
            <a:endParaRPr lang="en-US" sz="2600" dirty="0"/>
          </a:p>
        </p:txBody>
      </p:sp>
      <p:sp>
        <p:nvSpPr>
          <p:cNvPr id="6" name="Text 3"/>
          <p:cNvSpPr txBox="1"/>
          <p:nvPr/>
        </p:nvSpPr>
        <p:spPr>
          <a:xfrm>
            <a:off x="457200" y="2377440"/>
            <a:ext cx="3931920" cy="21031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Output is always between 0 and 1</a:t>
            </a:r>
            <a:endParaRPr lang="en-US" sz="1400" dirty="0"/>
          </a:p>
          <a:p>
            <a:pPr marL="190500" indent="-190500">
              <a:spcAft>
                <a:spcPts val="600"/>
              </a:spcAft>
              <a:buSzPct val="100000"/>
              <a:buChar char="•"/>
            </a:pPr>
            <a:r>
              <a:rPr lang="en-US" sz="1400" dirty="0">
                <a:solidFill>
                  <a:schemeClr val="tx1"/>
                </a:solidFill>
              </a:rPr>
              <a:t>z = 0 gives exactly 0.5</a:t>
            </a:r>
            <a:endParaRPr lang="en-US" sz="1400" dirty="0"/>
          </a:p>
          <a:p>
            <a:pPr marL="190500" indent="-190500">
              <a:spcAft>
                <a:spcPts val="600"/>
              </a:spcAft>
              <a:buSzPct val="100000"/>
              <a:buChar char="•"/>
            </a:pPr>
            <a:r>
              <a:rPr lang="en-US" sz="1400" dirty="0">
                <a:solidFill>
                  <a:schemeClr val="tx1"/>
                </a:solidFill>
              </a:rPr>
              <a:t>Large positive z gives near 1; large negative z gives near 0</a:t>
            </a:r>
            <a:endParaRPr lang="en-US" sz="1400" dirty="0"/>
          </a:p>
          <a:p>
            <a:pPr marL="190500" indent="-190500">
              <a:spcAft>
                <a:spcPts val="600"/>
              </a:spcAft>
              <a:buSzPct val="100000"/>
              <a:buChar char="•"/>
            </a:pPr>
            <a:r>
              <a:rPr lang="en-US" sz="1400" dirty="0">
                <a:solidFill>
                  <a:schemeClr val="tx1"/>
                </a:solidFill>
              </a:rPr>
              <a:t>It fixes a straight line escaping the 0 to 1 range</a:t>
            </a:r>
            <a:endParaRPr lang="en-US" sz="1400" dirty="0"/>
          </a:p>
        </p:txBody>
      </p:sp>
      <p:graphicFrame>
        <p:nvGraphicFramePr>
          <p:cNvPr id="7" name="Chart 0" descr=""/>
          <p:cNvGraphicFramePr/>
          <p:nvPr/>
        </p:nvGraphicFramePr>
        <p:xfrm>
          <a:off x="4663440" y="1188720"/>
          <a:ext cx="402336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Odds and log-odds</a:t>
            </a:r>
            <a:endParaRPr lang="en-US" sz="3600" dirty="0"/>
          </a:p>
        </p:txBody>
      </p:sp>
      <p:sp>
        <p:nvSpPr>
          <p:cNvPr id="4" name="Card 32"/>
          <p:cNvSpPr/>
          <p:nvPr/>
        </p:nvSpPr>
        <p:spPr>
          <a:xfrm>
            <a:off x="457200" y="1234440"/>
            <a:ext cx="2377440" cy="1600200"/>
          </a:xfrm>
          <a:prstGeom prst="roundRect">
            <a:avLst>
              <a:gd name="adj" fmla="val 5714"/>
            </a:avLst>
          </a:prstGeom>
          <a:solidFill>
            <a:schemeClr val="bg2"/>
          </a:solidFill>
          <a:ln/>
        </p:spPr>
      </p:sp>
      <p:sp>
        <p:nvSpPr>
          <p:cNvPr id="5" name="Text 2"/>
          <p:cNvSpPr txBox="1"/>
          <p:nvPr/>
        </p:nvSpPr>
        <p:spPr>
          <a:xfrm>
            <a:off x="640080" y="1371600"/>
            <a:ext cx="2011680" cy="274320"/>
          </a:xfrm>
          <a:prstGeom prst="rect">
            <a:avLst/>
          </a:prstGeom>
          <a:noFill/>
          <a:ln/>
        </p:spPr>
        <p:txBody>
          <a:bodyPr wrap="square" lIns="0" tIns="0" rIns="0" bIns="0" rtlCol="0" anchor="t"/>
          <a:lstStyle/>
          <a:p>
            <a:pPr indent="0" marL="0">
              <a:buNone/>
            </a:pPr>
            <a:r>
              <a:rPr lang="en-US" sz="1200" b="1" spc="100" kern="0" dirty="0">
                <a:solidFill>
                  <a:schemeClr val="tx2"/>
                </a:solidFill>
              </a:rPr>
              <a:t>PROBABILITY</a:t>
            </a:r>
            <a:endParaRPr lang="en-US" sz="1200" dirty="0"/>
          </a:p>
        </p:txBody>
      </p:sp>
      <p:sp>
        <p:nvSpPr>
          <p:cNvPr id="6" name="Text 3"/>
          <p:cNvSpPr txBox="1"/>
          <p:nvPr/>
        </p:nvSpPr>
        <p:spPr>
          <a:xfrm>
            <a:off x="640080" y="1737360"/>
            <a:ext cx="2103120" cy="457200"/>
          </a:xfrm>
          <a:prstGeom prst="rect">
            <a:avLst/>
          </a:prstGeom>
          <a:noFill/>
          <a:ln/>
        </p:spPr>
        <p:txBody>
          <a:bodyPr wrap="square" lIns="0" tIns="0" rIns="0" bIns="0" rtlCol="0" anchor="ctr"/>
          <a:lstStyle/>
          <a:p>
            <a:pPr indent="0" marL="0">
              <a:buNone/>
            </a:pPr>
            <a:r>
              <a:rPr lang="en-US" sz="2000" b="1" dirty="0">
                <a:solidFill>
                  <a:schemeClr val="accent1"/>
                </a:solidFill>
              </a:rPr>
              <a:t>p = 0.80</a:t>
            </a:r>
            <a:endParaRPr lang="en-US" sz="2000" dirty="0"/>
          </a:p>
        </p:txBody>
      </p:sp>
      <p:sp>
        <p:nvSpPr>
          <p:cNvPr id="7" name="Text 4"/>
          <p:cNvSpPr txBox="1"/>
          <p:nvPr/>
        </p:nvSpPr>
        <p:spPr>
          <a:xfrm>
            <a:off x="640080" y="2286000"/>
            <a:ext cx="2103120" cy="457200"/>
          </a:xfrm>
          <a:prstGeom prst="rect">
            <a:avLst/>
          </a:prstGeom>
          <a:noFill/>
          <a:ln/>
        </p:spPr>
        <p:txBody>
          <a:bodyPr wrap="square" lIns="0" tIns="0" rIns="0" bIns="0" rtlCol="0" anchor="t"/>
          <a:lstStyle/>
          <a:p>
            <a:pPr indent="0" marL="0">
              <a:buNone/>
            </a:pPr>
            <a:r>
              <a:rPr lang="en-US" sz="1400" dirty="0">
                <a:solidFill>
                  <a:schemeClr val="tx1"/>
                </a:solidFill>
              </a:rPr>
              <a:t>80% chance of passing</a:t>
            </a:r>
            <a:endParaRPr lang="en-US" sz="1400" dirty="0"/>
          </a:p>
        </p:txBody>
      </p:sp>
      <p:sp>
        <p:nvSpPr>
          <p:cNvPr id="8" name="Odds arrow 1"/>
          <p:cNvSpPr/>
          <p:nvPr/>
        </p:nvSpPr>
        <p:spPr>
          <a:xfrm>
            <a:off x="2926080" y="1874520"/>
            <a:ext cx="365760" cy="365760"/>
          </a:xfrm>
          <a:prstGeom prst="rightArrow">
            <a:avLst/>
          </a:prstGeom>
          <a:solidFill>
            <a:schemeClr val="accent2"/>
          </a:solidFill>
          <a:ln/>
        </p:spPr>
      </p:sp>
      <p:sp>
        <p:nvSpPr>
          <p:cNvPr id="9" name="Card 33"/>
          <p:cNvSpPr/>
          <p:nvPr/>
        </p:nvSpPr>
        <p:spPr>
          <a:xfrm>
            <a:off x="3383280" y="1234440"/>
            <a:ext cx="2377440" cy="1600200"/>
          </a:xfrm>
          <a:prstGeom prst="roundRect">
            <a:avLst>
              <a:gd name="adj" fmla="val 5714"/>
            </a:avLst>
          </a:prstGeom>
          <a:solidFill>
            <a:schemeClr val="bg2"/>
          </a:solidFill>
          <a:ln/>
        </p:spPr>
      </p:sp>
      <p:sp>
        <p:nvSpPr>
          <p:cNvPr id="10" name="Text 7"/>
          <p:cNvSpPr txBox="1"/>
          <p:nvPr/>
        </p:nvSpPr>
        <p:spPr>
          <a:xfrm>
            <a:off x="3566160" y="1371600"/>
            <a:ext cx="2011680" cy="274320"/>
          </a:xfrm>
          <a:prstGeom prst="rect">
            <a:avLst/>
          </a:prstGeom>
          <a:noFill/>
          <a:ln/>
        </p:spPr>
        <p:txBody>
          <a:bodyPr wrap="square" lIns="0" tIns="0" rIns="0" bIns="0" rtlCol="0" anchor="t"/>
          <a:lstStyle/>
          <a:p>
            <a:pPr indent="0" marL="0">
              <a:buNone/>
            </a:pPr>
            <a:r>
              <a:rPr lang="en-US" sz="1200" b="1" spc="100" kern="0" dirty="0">
                <a:solidFill>
                  <a:schemeClr val="tx2"/>
                </a:solidFill>
              </a:rPr>
              <a:t>ODDS</a:t>
            </a:r>
            <a:endParaRPr lang="en-US" sz="1200" dirty="0"/>
          </a:p>
        </p:txBody>
      </p:sp>
      <p:sp>
        <p:nvSpPr>
          <p:cNvPr id="11" name="Text 8"/>
          <p:cNvSpPr txBox="1"/>
          <p:nvPr/>
        </p:nvSpPr>
        <p:spPr>
          <a:xfrm>
            <a:off x="3566160" y="1737360"/>
            <a:ext cx="2103120" cy="457200"/>
          </a:xfrm>
          <a:prstGeom prst="rect">
            <a:avLst/>
          </a:prstGeom>
          <a:noFill/>
          <a:ln/>
        </p:spPr>
        <p:txBody>
          <a:bodyPr wrap="square" lIns="0" tIns="0" rIns="0" bIns="0" rtlCol="0" anchor="ctr"/>
          <a:lstStyle/>
          <a:p>
            <a:pPr indent="0" marL="0">
              <a:buNone/>
            </a:pPr>
            <a:r>
              <a:rPr lang="en-US" sz="2000" b="1" dirty="0">
                <a:solidFill>
                  <a:schemeClr val="accent1"/>
                </a:solidFill>
              </a:rPr>
              <a:t>p / (1 − p) = 4</a:t>
            </a:r>
            <a:endParaRPr lang="en-US" sz="2000" dirty="0"/>
          </a:p>
        </p:txBody>
      </p:sp>
      <p:sp>
        <p:nvSpPr>
          <p:cNvPr id="12" name="Text 9"/>
          <p:cNvSpPr txBox="1"/>
          <p:nvPr/>
        </p:nvSpPr>
        <p:spPr>
          <a:xfrm>
            <a:off x="3566160" y="2286000"/>
            <a:ext cx="2103120" cy="457200"/>
          </a:xfrm>
          <a:prstGeom prst="rect">
            <a:avLst/>
          </a:prstGeom>
          <a:noFill/>
          <a:ln/>
        </p:spPr>
        <p:txBody>
          <a:bodyPr wrap="square" lIns="0" tIns="0" rIns="0" bIns="0" rtlCol="0" anchor="t"/>
          <a:lstStyle/>
          <a:p>
            <a:pPr indent="0" marL="0">
              <a:buNone/>
            </a:pPr>
            <a:r>
              <a:rPr lang="en-US" sz="1400" dirty="0">
                <a:solidFill>
                  <a:schemeClr val="tx1"/>
                </a:solidFill>
              </a:rPr>
              <a:t>4 to 1 in favour</a:t>
            </a:r>
            <a:endParaRPr lang="en-US" sz="1400" dirty="0"/>
          </a:p>
        </p:txBody>
      </p:sp>
      <p:sp>
        <p:nvSpPr>
          <p:cNvPr id="13" name="Odds arrow 2"/>
          <p:cNvSpPr/>
          <p:nvPr/>
        </p:nvSpPr>
        <p:spPr>
          <a:xfrm>
            <a:off x="5852160" y="1874520"/>
            <a:ext cx="365760" cy="365760"/>
          </a:xfrm>
          <a:prstGeom prst="rightArrow">
            <a:avLst/>
          </a:prstGeom>
          <a:solidFill>
            <a:schemeClr val="accent2"/>
          </a:solidFill>
          <a:ln/>
        </p:spPr>
      </p:sp>
      <p:sp>
        <p:nvSpPr>
          <p:cNvPr id="14" name="Card 34"/>
          <p:cNvSpPr/>
          <p:nvPr/>
        </p:nvSpPr>
        <p:spPr>
          <a:xfrm>
            <a:off x="6309360" y="1234440"/>
            <a:ext cx="2377440" cy="1600200"/>
          </a:xfrm>
          <a:prstGeom prst="roundRect">
            <a:avLst>
              <a:gd name="adj" fmla="val 5714"/>
            </a:avLst>
          </a:prstGeom>
          <a:solidFill>
            <a:schemeClr val="bg2"/>
          </a:solidFill>
          <a:ln/>
        </p:spPr>
      </p:sp>
      <p:sp>
        <p:nvSpPr>
          <p:cNvPr id="15" name="Text 12"/>
          <p:cNvSpPr txBox="1"/>
          <p:nvPr/>
        </p:nvSpPr>
        <p:spPr>
          <a:xfrm>
            <a:off x="6492240" y="1371600"/>
            <a:ext cx="2011680" cy="274320"/>
          </a:xfrm>
          <a:prstGeom prst="rect">
            <a:avLst/>
          </a:prstGeom>
          <a:noFill/>
          <a:ln/>
        </p:spPr>
        <p:txBody>
          <a:bodyPr wrap="square" lIns="0" tIns="0" rIns="0" bIns="0" rtlCol="0" anchor="t"/>
          <a:lstStyle/>
          <a:p>
            <a:pPr indent="0" marL="0">
              <a:buNone/>
            </a:pPr>
            <a:r>
              <a:rPr lang="en-US" sz="1200" b="1" spc="100" kern="0" dirty="0">
                <a:solidFill>
                  <a:schemeClr val="tx2"/>
                </a:solidFill>
              </a:rPr>
              <a:t>LOG-ODDS (LOGIT)</a:t>
            </a:r>
            <a:endParaRPr lang="en-US" sz="1200" dirty="0"/>
          </a:p>
        </p:txBody>
      </p:sp>
      <p:sp>
        <p:nvSpPr>
          <p:cNvPr id="16" name="Text 13"/>
          <p:cNvSpPr txBox="1"/>
          <p:nvPr/>
        </p:nvSpPr>
        <p:spPr>
          <a:xfrm>
            <a:off x="6492240" y="1737360"/>
            <a:ext cx="2103120" cy="457200"/>
          </a:xfrm>
          <a:prstGeom prst="rect">
            <a:avLst/>
          </a:prstGeom>
          <a:noFill/>
          <a:ln/>
        </p:spPr>
        <p:txBody>
          <a:bodyPr wrap="square" lIns="0" tIns="0" rIns="0" bIns="0" rtlCol="0" anchor="ctr"/>
          <a:lstStyle/>
          <a:p>
            <a:pPr indent="0" marL="0">
              <a:buNone/>
            </a:pPr>
            <a:r>
              <a:rPr lang="en-US" sz="2000" b="1" dirty="0">
                <a:solidFill>
                  <a:schemeClr val="accent1"/>
                </a:solidFill>
              </a:rPr>
              <a:t>ln(4) = 1.39</a:t>
            </a:r>
            <a:endParaRPr lang="en-US" sz="2000" dirty="0"/>
          </a:p>
        </p:txBody>
      </p:sp>
      <p:sp>
        <p:nvSpPr>
          <p:cNvPr id="17" name="Text 14"/>
          <p:cNvSpPr txBox="1"/>
          <p:nvPr/>
        </p:nvSpPr>
        <p:spPr>
          <a:xfrm>
            <a:off x="6492240" y="2286000"/>
            <a:ext cx="2103120" cy="457200"/>
          </a:xfrm>
          <a:prstGeom prst="rect">
            <a:avLst/>
          </a:prstGeom>
          <a:noFill/>
          <a:ln/>
        </p:spPr>
        <p:txBody>
          <a:bodyPr wrap="square" lIns="0" tIns="0" rIns="0" bIns="0" rtlCol="0" anchor="t"/>
          <a:lstStyle/>
          <a:p>
            <a:pPr indent="0" marL="0">
              <a:buNone/>
            </a:pPr>
            <a:r>
              <a:rPr lang="en-US" sz="1400" dirty="0">
                <a:solidFill>
                  <a:schemeClr val="tx1"/>
                </a:solidFill>
              </a:rPr>
              <a:t>Unbounded: −∞ to +∞</a:t>
            </a:r>
            <a:endParaRPr lang="en-US" sz="1400" dirty="0"/>
          </a:p>
        </p:txBody>
      </p:sp>
      <p:sp>
        <p:nvSpPr>
          <p:cNvPr id="18" name="Card 35"/>
          <p:cNvSpPr/>
          <p:nvPr/>
        </p:nvSpPr>
        <p:spPr>
          <a:xfrm>
            <a:off x="457200" y="3063240"/>
            <a:ext cx="3977640" cy="1463040"/>
          </a:xfrm>
          <a:prstGeom prst="roundRect">
            <a:avLst>
              <a:gd name="adj" fmla="val 6250"/>
            </a:avLst>
          </a:prstGeom>
          <a:solidFill>
            <a:schemeClr val="bg2"/>
          </a:solidFill>
          <a:ln/>
        </p:spPr>
      </p:sp>
      <p:sp>
        <p:nvSpPr>
          <p:cNvPr id="19" name="Text 16"/>
          <p:cNvSpPr txBox="1"/>
          <p:nvPr/>
        </p:nvSpPr>
        <p:spPr>
          <a:xfrm>
            <a:off x="640080" y="3200400"/>
            <a:ext cx="3611880" cy="12344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Linear in log-odds</a:t>
            </a:r>
            <a:endParaRPr lang="en-US" sz="1400" dirty="0"/>
          </a:p>
          <a:p>
            <a:pPr indent="0" marL="0">
              <a:spcAft>
                <a:spcPts val="600"/>
              </a:spcAft>
              <a:buNone/>
            </a:pPr>
            <a:r>
              <a:rPr lang="en-US" sz="1400" b="1" dirty="0">
                <a:solidFill>
                  <a:schemeClr val="accent1"/>
                </a:solidFill>
              </a:rPr>
              <a:t>ln( p / (1 − p) ) = b</a:t>
            </a:r>
            <a:pPr indent="0" marL="0">
              <a:buNone/>
            </a:pPr>
            <a:r>
              <a:rPr lang="en-US" sz="1400" b="1" baseline="-40000" dirty="0">
                <a:solidFill>
                  <a:schemeClr val="accent1"/>
                </a:solidFill>
              </a:rPr>
              <a:t>0</a:t>
            </a:r>
            <a:pPr indent="0" marL="0">
              <a:buNone/>
            </a:pPr>
            <a:r>
              <a:rPr lang="en-US" sz="1400" b="1" dirty="0">
                <a:solidFill>
                  <a:schemeClr val="accent1"/>
                </a:solidFill>
              </a:rPr>
              <a:t> + b</a:t>
            </a:r>
            <a:pPr indent="0" marL="0">
              <a:buNone/>
            </a:pPr>
            <a:r>
              <a:rPr lang="en-US" sz="1400" b="1" baseline="-40000" dirty="0">
                <a:solidFill>
                  <a:schemeClr val="accent1"/>
                </a:solidFill>
              </a:rPr>
              <a:t>1</a:t>
            </a:r>
            <a:pPr indent="0" marL="0">
              <a:buNone/>
            </a:pPr>
            <a:r>
              <a:rPr lang="en-US" sz="1400" b="1" dirty="0">
                <a:solidFill>
                  <a:schemeClr val="accent1"/>
                </a:solidFill>
              </a:rPr>
              <a:t>x</a:t>
            </a:r>
            <a:pPr indent="0" marL="0">
              <a:buNone/>
            </a:pPr>
            <a:r>
              <a:rPr lang="en-US" sz="1400" b="1" baseline="-40000" dirty="0">
                <a:solidFill>
                  <a:schemeClr val="accent1"/>
                </a:solidFill>
              </a:rPr>
              <a:t>1</a:t>
            </a:r>
            <a:pPr indent="0" marL="0">
              <a:buNone/>
            </a:pPr>
            <a:r>
              <a:rPr lang="en-US" sz="1400" b="1" dirty="0">
                <a:solidFill>
                  <a:schemeClr val="accent1"/>
                </a:solidFill>
              </a:rPr>
              <a:t> + …</a:t>
            </a:r>
            <a:endParaRPr lang="en-US" sz="1400" dirty="0"/>
          </a:p>
          <a:p>
            <a:pPr indent="0" marL="0">
              <a:buNone/>
            </a:pPr>
            <a:r>
              <a:rPr lang="en-US" sz="1400" dirty="0">
                <a:solidFill>
                  <a:schemeClr val="tx1"/>
                </a:solidFill>
              </a:rPr>
              <a:t>Coefficients add up on the log-odds scale.</a:t>
            </a:r>
            <a:endParaRPr lang="en-US" sz="1400" dirty="0"/>
          </a:p>
        </p:txBody>
      </p:sp>
      <p:sp>
        <p:nvSpPr>
          <p:cNvPr id="20" name="Card 36"/>
          <p:cNvSpPr/>
          <p:nvPr/>
        </p:nvSpPr>
        <p:spPr>
          <a:xfrm>
            <a:off x="4709160" y="3063240"/>
            <a:ext cx="3977640" cy="1463040"/>
          </a:xfrm>
          <a:prstGeom prst="roundRect">
            <a:avLst>
              <a:gd name="adj" fmla="val 6250"/>
            </a:avLst>
          </a:prstGeom>
          <a:solidFill>
            <a:schemeClr val="bg2"/>
          </a:solidFill>
          <a:ln/>
        </p:spPr>
      </p:sp>
      <p:sp>
        <p:nvSpPr>
          <p:cNvPr id="21" name="Text 18"/>
          <p:cNvSpPr txBox="1"/>
          <p:nvPr/>
        </p:nvSpPr>
        <p:spPr>
          <a:xfrm>
            <a:off x="4892040" y="3200400"/>
            <a:ext cx="3611880" cy="12344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Odds ratio = e</a:t>
            </a:r>
            <a:pPr indent="0" marL="0">
              <a:buNone/>
            </a:pPr>
            <a:r>
              <a:rPr lang="en-US" sz="1600" b="1" baseline="30000" dirty="0">
                <a:solidFill>
                  <a:schemeClr val="tx1"/>
                </a:solidFill>
              </a:rPr>
              <a:t>b</a:t>
            </a:r>
            <a:endParaRPr lang="en-US" sz="1400" dirty="0"/>
          </a:p>
          <a:p>
            <a:pPr indent="0" marL="0">
              <a:spcAft>
                <a:spcPts val="600"/>
              </a:spcAft>
              <a:buNone/>
            </a:pPr>
            <a:r>
              <a:rPr lang="en-US" sz="1400" b="1" dirty="0">
                <a:solidFill>
                  <a:schemeClr val="accent1"/>
                </a:solidFill>
              </a:rPr>
              <a:t>b</a:t>
            </a:r>
            <a:pPr indent="0" marL="0">
              <a:buNone/>
            </a:pPr>
            <a:r>
              <a:rPr lang="en-US" sz="1400" b="1" baseline="-40000" dirty="0">
                <a:solidFill>
                  <a:schemeClr val="accent1"/>
                </a:solidFill>
              </a:rPr>
              <a:t>1</a:t>
            </a:r>
            <a:pPr indent="0" marL="0">
              <a:buNone/>
            </a:pPr>
            <a:r>
              <a:rPr lang="en-US" sz="1400" b="1" dirty="0">
                <a:solidFill>
                  <a:schemeClr val="accent1"/>
                </a:solidFill>
              </a:rPr>
              <a:t> = 1.5, so e</a:t>
            </a:r>
            <a:pPr indent="0" marL="0">
              <a:buNone/>
            </a:pPr>
            <a:r>
              <a:rPr lang="en-US" sz="1400" b="1" baseline="30000" dirty="0">
                <a:solidFill>
                  <a:schemeClr val="accent1"/>
                </a:solidFill>
              </a:rPr>
              <a:t>1.5</a:t>
            </a:r>
            <a:pPr indent="0" marL="0">
              <a:buNone/>
            </a:pPr>
            <a:r>
              <a:rPr lang="en-US" sz="1400" b="1" dirty="0">
                <a:solidFill>
                  <a:schemeClr val="accent1"/>
                </a:solidFill>
              </a:rPr>
              <a:t> ≈ 4.48</a:t>
            </a:r>
            <a:endParaRPr lang="en-US" sz="1400" dirty="0"/>
          </a:p>
          <a:p>
            <a:pPr indent="0" marL="0">
              <a:buNone/>
            </a:pPr>
            <a:r>
              <a:rPr lang="en-US" sz="1400" dirty="0">
                <a:solidFill>
                  <a:schemeClr val="tx1"/>
                </a:solidFill>
              </a:rPr>
              <a:t>Each extra hour multiplies the odds of passing by about 4.5.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Training with log loss</a:t>
            </a:r>
            <a:endParaRPr lang="en-US" sz="3600" dirty="0"/>
          </a:p>
        </p:txBody>
      </p:sp>
      <p:sp>
        <p:nvSpPr>
          <p:cNvPr id="4" name="Card 37"/>
          <p:cNvSpPr/>
          <p:nvPr/>
        </p:nvSpPr>
        <p:spPr>
          <a:xfrm>
            <a:off x="457200" y="1234440"/>
            <a:ext cx="4023360" cy="914400"/>
          </a:xfrm>
          <a:prstGeom prst="roundRect">
            <a:avLst>
              <a:gd name="adj" fmla="val 10000"/>
            </a:avLst>
          </a:prstGeom>
          <a:solidFill>
            <a:schemeClr val="bg2"/>
          </a:solidFill>
          <a:ln/>
        </p:spPr>
      </p:sp>
      <p:sp>
        <p:nvSpPr>
          <p:cNvPr id="5" name="Text 2"/>
          <p:cNvSpPr txBox="1"/>
          <p:nvPr/>
        </p:nvSpPr>
        <p:spPr>
          <a:xfrm>
            <a:off x="457200" y="1234440"/>
            <a:ext cx="4023360" cy="914400"/>
          </a:xfrm>
          <a:prstGeom prst="rect">
            <a:avLst/>
          </a:prstGeom>
          <a:noFill/>
          <a:ln/>
        </p:spPr>
        <p:txBody>
          <a:bodyPr wrap="square" lIns="0" tIns="0" rIns="0" bIns="0" rtlCol="0" anchor="ctr"/>
          <a:lstStyle/>
          <a:p>
            <a:pPr algn="ctr" indent="0" marL="0">
              <a:buNone/>
            </a:pPr>
            <a:r>
              <a:rPr lang="en-US" sz="1600" b="1" dirty="0">
                <a:solidFill>
                  <a:schemeClr val="accent1"/>
                </a:solidFill>
              </a:rPr>
              <a:t>Loss = −[ y·ln(p) + (1−y)·ln(1−p) ]</a:t>
            </a:r>
            <a:endParaRPr lang="en-US" sz="1600" dirty="0"/>
          </a:p>
        </p:txBody>
      </p:sp>
      <p:sp>
        <p:nvSpPr>
          <p:cNvPr id="6" name="Text 3"/>
          <p:cNvSpPr txBox="1"/>
          <p:nvPr/>
        </p:nvSpPr>
        <p:spPr>
          <a:xfrm>
            <a:off x="457200" y="2377440"/>
            <a:ext cx="4023360" cy="21488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Confident and wrong is punished hard</a:t>
            </a:r>
            <a:endParaRPr lang="en-US" sz="1400" dirty="0"/>
          </a:p>
          <a:p>
            <a:pPr marL="190500" indent="-190500">
              <a:spcAft>
                <a:spcPts val="600"/>
              </a:spcAft>
              <a:buSzPct val="100000"/>
              <a:buChar char="•"/>
            </a:pPr>
            <a:r>
              <a:rPr lang="en-US" sz="1400" dirty="0">
                <a:solidFill>
                  <a:schemeClr val="tx1"/>
                </a:solidFill>
              </a:rPr>
              <a:t>Maximum likelihood = minimise the average log loss</a:t>
            </a:r>
            <a:endParaRPr lang="en-US" sz="1400" dirty="0"/>
          </a:p>
          <a:p>
            <a:pPr marL="190500" indent="-190500">
              <a:spcAft>
                <a:spcPts val="600"/>
              </a:spcAft>
              <a:buSzPct val="100000"/>
              <a:buChar char="•"/>
            </a:pPr>
            <a:r>
              <a:rPr lang="en-US" sz="1400" dirty="0">
                <a:solidFill>
                  <a:schemeClr val="tx1"/>
                </a:solidFill>
              </a:rPr>
              <a:t>No closed form: use gradient descent or IRLS</a:t>
            </a:r>
            <a:endParaRPr lang="en-US" sz="1400" dirty="0"/>
          </a:p>
          <a:p>
            <a:pPr marL="190500" indent="-190500">
              <a:spcAft>
                <a:spcPts val="600"/>
              </a:spcAft>
              <a:buSzPct val="100000"/>
              <a:buChar char="•"/>
            </a:pPr>
            <a:r>
              <a:rPr lang="en-US" sz="1400" dirty="0">
                <a:solidFill>
                  <a:schemeClr val="tx1"/>
                </a:solidFill>
              </a:rPr>
              <a:t>The gradient is simple: (p − y) times each feature</a:t>
            </a:r>
            <a:endParaRPr lang="en-US" sz="1400" dirty="0"/>
          </a:p>
        </p:txBody>
      </p:sp>
      <p:graphicFrame>
        <p:nvGraphicFramePr>
          <p:cNvPr id="7" name="Chart 0" descr=""/>
          <p:cNvGraphicFramePr/>
          <p:nvPr/>
        </p:nvGraphicFramePr>
        <p:xfrm>
          <a:off x="4663440" y="1188720"/>
          <a:ext cx="402336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Confusion matrix and metrics</a:t>
            </a:r>
            <a:endParaRPr lang="en-US" sz="3600" dirty="0"/>
          </a:p>
        </p:txBody>
      </p:sp>
      <p:sp>
        <p:nvSpPr>
          <p:cNvPr id="4" name="Text 1"/>
          <p:cNvSpPr txBox="1"/>
          <p:nvPr/>
        </p:nvSpPr>
        <p:spPr>
          <a:xfrm>
            <a:off x="1417320" y="1234440"/>
            <a:ext cx="1325880" cy="320040"/>
          </a:xfrm>
          <a:prstGeom prst="rect">
            <a:avLst/>
          </a:prstGeom>
          <a:noFill/>
          <a:ln/>
        </p:spPr>
        <p:txBody>
          <a:bodyPr wrap="square" lIns="0" tIns="0" rIns="0" bIns="0" rtlCol="0" anchor="ctr"/>
          <a:lstStyle/>
          <a:p>
            <a:pPr algn="ctr" indent="0" marL="0">
              <a:buNone/>
            </a:pPr>
            <a:r>
              <a:rPr lang="en-US" sz="1200" b="1" dirty="0">
                <a:solidFill>
                  <a:schemeClr val="tx2"/>
                </a:solidFill>
              </a:rPr>
              <a:t>Predicted +</a:t>
            </a:r>
            <a:endParaRPr lang="en-US" sz="1200" dirty="0"/>
          </a:p>
        </p:txBody>
      </p:sp>
      <p:sp>
        <p:nvSpPr>
          <p:cNvPr id="5" name="Text 2"/>
          <p:cNvSpPr txBox="1"/>
          <p:nvPr/>
        </p:nvSpPr>
        <p:spPr>
          <a:xfrm>
            <a:off x="2834640" y="1234440"/>
            <a:ext cx="1325880" cy="320040"/>
          </a:xfrm>
          <a:prstGeom prst="rect">
            <a:avLst/>
          </a:prstGeom>
          <a:noFill/>
          <a:ln/>
        </p:spPr>
        <p:txBody>
          <a:bodyPr wrap="square" lIns="0" tIns="0" rIns="0" bIns="0" rtlCol="0" anchor="ctr"/>
          <a:lstStyle/>
          <a:p>
            <a:pPr algn="ctr" indent="0" marL="0">
              <a:buNone/>
            </a:pPr>
            <a:r>
              <a:rPr lang="en-US" sz="1200" b="1" dirty="0">
                <a:solidFill>
                  <a:schemeClr val="tx2"/>
                </a:solidFill>
              </a:rPr>
              <a:t>Predicted −</a:t>
            </a:r>
            <a:endParaRPr lang="en-US" sz="1200" dirty="0"/>
          </a:p>
        </p:txBody>
      </p:sp>
      <p:sp>
        <p:nvSpPr>
          <p:cNvPr id="6" name="Text 3"/>
          <p:cNvSpPr txBox="1"/>
          <p:nvPr/>
        </p:nvSpPr>
        <p:spPr>
          <a:xfrm>
            <a:off x="457200" y="1600200"/>
            <a:ext cx="914400" cy="960120"/>
          </a:xfrm>
          <a:prstGeom prst="rect">
            <a:avLst/>
          </a:prstGeom>
          <a:noFill/>
          <a:ln/>
        </p:spPr>
        <p:txBody>
          <a:bodyPr wrap="square" lIns="0" tIns="0" rIns="0" bIns="0" rtlCol="0" anchor="ctr"/>
          <a:lstStyle/>
          <a:p>
            <a:pPr indent="0" marL="0">
              <a:buNone/>
            </a:pPr>
            <a:r>
              <a:rPr lang="en-US" sz="1200" b="1" dirty="0">
                <a:solidFill>
                  <a:schemeClr val="tx2"/>
                </a:solidFill>
              </a:rPr>
              <a:t>Actual +</a:t>
            </a:r>
            <a:endParaRPr lang="en-US" sz="1200" dirty="0"/>
          </a:p>
        </p:txBody>
      </p:sp>
      <p:sp>
        <p:nvSpPr>
          <p:cNvPr id="7" name="Text 4"/>
          <p:cNvSpPr txBox="1"/>
          <p:nvPr/>
        </p:nvSpPr>
        <p:spPr>
          <a:xfrm>
            <a:off x="457200" y="2651760"/>
            <a:ext cx="914400" cy="960120"/>
          </a:xfrm>
          <a:prstGeom prst="rect">
            <a:avLst/>
          </a:prstGeom>
          <a:noFill/>
          <a:ln/>
        </p:spPr>
        <p:txBody>
          <a:bodyPr wrap="square" lIns="0" tIns="0" rIns="0" bIns="0" rtlCol="0" anchor="ctr"/>
          <a:lstStyle/>
          <a:p>
            <a:pPr indent="0" marL="0">
              <a:buNone/>
            </a:pPr>
            <a:r>
              <a:rPr lang="en-US" sz="1200" b="1" dirty="0">
                <a:solidFill>
                  <a:schemeClr val="tx2"/>
                </a:solidFill>
              </a:rPr>
              <a:t>Actual −</a:t>
            </a:r>
            <a:endParaRPr lang="en-US" sz="1200" dirty="0"/>
          </a:p>
        </p:txBody>
      </p:sp>
      <p:sp>
        <p:nvSpPr>
          <p:cNvPr id="8" name="Cell TP"/>
          <p:cNvSpPr txBox="1"/>
          <p:nvPr/>
        </p:nvSpPr>
        <p:spPr>
          <a:xfrm>
            <a:off x="1417320" y="1600200"/>
            <a:ext cx="1325880" cy="960120"/>
          </a:xfrm>
          <a:prstGeom prst="roundRect">
            <a:avLst>
              <a:gd name="adj" fmla="val 7619"/>
            </a:avLst>
          </a:prstGeom>
          <a:solidFill>
            <a:schemeClr val="accent1"/>
          </a:solidFill>
          <a:ln/>
        </p:spPr>
        <p:txBody>
          <a:bodyPr wrap="square" lIns="635" tIns="635" rIns="635" bIns="635" rtlCol="0" anchor="ctr"/>
          <a:lstStyle/>
          <a:p>
            <a:pPr algn="ctr" indent="0" marL="0">
              <a:buNone/>
            </a:pPr>
            <a:r>
              <a:rPr lang="en-US" sz="2400" b="1" dirty="0">
                <a:solidFill>
                  <a:schemeClr val="bg1"/>
                </a:solidFill>
              </a:rPr>
              <a:t>TP  80</a:t>
            </a:r>
            <a:endParaRPr lang="en-US" sz="2400" dirty="0"/>
          </a:p>
          <a:p>
            <a:pPr algn="ctr" indent="0" marL="0">
              <a:buNone/>
            </a:pPr>
            <a:r>
              <a:rPr lang="en-US" sz="1200" dirty="0">
                <a:solidFill>
                  <a:schemeClr val="bg1"/>
                </a:solidFill>
              </a:rPr>
              <a:t>true positive</a:t>
            </a:r>
            <a:endParaRPr lang="en-US" sz="2400" dirty="0"/>
          </a:p>
        </p:txBody>
      </p:sp>
      <p:sp>
        <p:nvSpPr>
          <p:cNvPr id="9" name="Cell FN"/>
          <p:cNvSpPr txBox="1"/>
          <p:nvPr/>
        </p:nvSpPr>
        <p:spPr>
          <a:xfrm>
            <a:off x="2834640" y="1600200"/>
            <a:ext cx="1325880" cy="960120"/>
          </a:xfrm>
          <a:prstGeom prst="roundRect">
            <a:avLst>
              <a:gd name="adj" fmla="val 7619"/>
            </a:avLst>
          </a:prstGeom>
          <a:solidFill>
            <a:schemeClr val="accent2"/>
          </a:solidFill>
          <a:ln/>
        </p:spPr>
        <p:txBody>
          <a:bodyPr wrap="square" lIns="635" tIns="635" rIns="635" bIns="635" rtlCol="0" anchor="ctr"/>
          <a:lstStyle/>
          <a:p>
            <a:pPr algn="ctr" indent="0" marL="0">
              <a:buNone/>
            </a:pPr>
            <a:r>
              <a:rPr lang="en-US" sz="2400" b="1" dirty="0">
                <a:solidFill>
                  <a:schemeClr val="bg1"/>
                </a:solidFill>
              </a:rPr>
              <a:t>FN  20</a:t>
            </a:r>
            <a:endParaRPr lang="en-US" sz="2400" dirty="0"/>
          </a:p>
          <a:p>
            <a:pPr algn="ctr" indent="0" marL="0">
              <a:buNone/>
            </a:pPr>
            <a:r>
              <a:rPr lang="en-US" sz="1200" dirty="0">
                <a:solidFill>
                  <a:schemeClr val="bg1"/>
                </a:solidFill>
              </a:rPr>
              <a:t>missed</a:t>
            </a:r>
            <a:endParaRPr lang="en-US" sz="2400" dirty="0"/>
          </a:p>
        </p:txBody>
      </p:sp>
      <p:sp>
        <p:nvSpPr>
          <p:cNvPr id="10" name="Cell FP"/>
          <p:cNvSpPr txBox="1"/>
          <p:nvPr/>
        </p:nvSpPr>
        <p:spPr>
          <a:xfrm>
            <a:off x="1417320" y="2651760"/>
            <a:ext cx="1325880" cy="960120"/>
          </a:xfrm>
          <a:prstGeom prst="roundRect">
            <a:avLst>
              <a:gd name="adj" fmla="val 7619"/>
            </a:avLst>
          </a:prstGeom>
          <a:solidFill>
            <a:schemeClr val="accent2"/>
          </a:solidFill>
          <a:ln/>
        </p:spPr>
        <p:txBody>
          <a:bodyPr wrap="square" lIns="635" tIns="635" rIns="635" bIns="635" rtlCol="0" anchor="ctr"/>
          <a:lstStyle/>
          <a:p>
            <a:pPr algn="ctr" indent="0" marL="0">
              <a:buNone/>
            </a:pPr>
            <a:r>
              <a:rPr lang="en-US" sz="2400" b="1" dirty="0">
                <a:solidFill>
                  <a:schemeClr val="bg1"/>
                </a:solidFill>
              </a:rPr>
              <a:t>FP  10</a:t>
            </a:r>
            <a:endParaRPr lang="en-US" sz="2400" dirty="0"/>
          </a:p>
          <a:p>
            <a:pPr algn="ctr" indent="0" marL="0">
              <a:buNone/>
            </a:pPr>
            <a:r>
              <a:rPr lang="en-US" sz="1200" dirty="0">
                <a:solidFill>
                  <a:schemeClr val="bg1"/>
                </a:solidFill>
              </a:rPr>
              <a:t>false alarm</a:t>
            </a:r>
            <a:endParaRPr lang="en-US" sz="2400" dirty="0"/>
          </a:p>
        </p:txBody>
      </p:sp>
      <p:sp>
        <p:nvSpPr>
          <p:cNvPr id="11" name="Cell TN"/>
          <p:cNvSpPr txBox="1"/>
          <p:nvPr/>
        </p:nvSpPr>
        <p:spPr>
          <a:xfrm>
            <a:off x="2834640" y="2651760"/>
            <a:ext cx="1325880" cy="960120"/>
          </a:xfrm>
          <a:prstGeom prst="roundRect">
            <a:avLst>
              <a:gd name="adj" fmla="val 7619"/>
            </a:avLst>
          </a:prstGeom>
          <a:solidFill>
            <a:schemeClr val="accent1"/>
          </a:solidFill>
          <a:ln/>
        </p:spPr>
        <p:txBody>
          <a:bodyPr wrap="square" lIns="635" tIns="635" rIns="635" bIns="635" rtlCol="0" anchor="ctr"/>
          <a:lstStyle/>
          <a:p>
            <a:pPr algn="ctr" indent="0" marL="0">
              <a:buNone/>
            </a:pPr>
            <a:r>
              <a:rPr lang="en-US" sz="2400" b="1" dirty="0">
                <a:solidFill>
                  <a:schemeClr val="bg1"/>
                </a:solidFill>
              </a:rPr>
              <a:t>TN  90</a:t>
            </a:r>
            <a:endParaRPr lang="en-US" sz="2400" dirty="0"/>
          </a:p>
          <a:p>
            <a:pPr algn="ctr" indent="0" marL="0">
              <a:buNone/>
            </a:pPr>
            <a:r>
              <a:rPr lang="en-US" sz="1200" dirty="0">
                <a:solidFill>
                  <a:schemeClr val="bg1"/>
                </a:solidFill>
              </a:rPr>
              <a:t>true negative</a:t>
            </a:r>
            <a:endParaRPr lang="en-US" sz="2400" dirty="0"/>
          </a:p>
        </p:txBody>
      </p:sp>
      <p:sp>
        <p:nvSpPr>
          <p:cNvPr id="12" name="Text 9"/>
          <p:cNvSpPr txBox="1"/>
          <p:nvPr/>
        </p:nvSpPr>
        <p:spPr>
          <a:xfrm>
            <a:off x="457200" y="3794760"/>
            <a:ext cx="3749040" cy="640080"/>
          </a:xfrm>
          <a:prstGeom prst="rect">
            <a:avLst/>
          </a:prstGeom>
          <a:noFill/>
          <a:ln/>
        </p:spPr>
        <p:txBody>
          <a:bodyPr wrap="square" lIns="0" tIns="0" rIns="0" bIns="0" rtlCol="0" anchor="t"/>
          <a:lstStyle/>
          <a:p>
            <a:pPr indent="0" marL="0">
              <a:buNone/>
            </a:pPr>
            <a:r>
              <a:rPr lang="en-US" sz="1400" dirty="0">
                <a:solidFill>
                  <a:schemeClr val="tx2"/>
                </a:solidFill>
              </a:rPr>
              <a:t>n = 200. Accuracy alone misleads when one class is rare.</a:t>
            </a:r>
            <a:endParaRPr lang="en-US" sz="1400" dirty="0"/>
          </a:p>
        </p:txBody>
      </p:sp>
      <p:sp>
        <p:nvSpPr>
          <p:cNvPr id="13" name="Card 38"/>
          <p:cNvSpPr/>
          <p:nvPr/>
        </p:nvSpPr>
        <p:spPr>
          <a:xfrm>
            <a:off x="4572000" y="1234440"/>
            <a:ext cx="4114800" cy="713232"/>
          </a:xfrm>
          <a:prstGeom prst="roundRect">
            <a:avLst>
              <a:gd name="adj" fmla="val 12821"/>
            </a:avLst>
          </a:prstGeom>
          <a:solidFill>
            <a:schemeClr val="bg2"/>
          </a:solidFill>
          <a:ln/>
        </p:spPr>
      </p:sp>
      <p:sp>
        <p:nvSpPr>
          <p:cNvPr id="14" name="Text 11"/>
          <p:cNvSpPr txBox="1"/>
          <p:nvPr/>
        </p:nvSpPr>
        <p:spPr>
          <a:xfrm>
            <a:off x="4709160" y="1234440"/>
            <a:ext cx="1097280" cy="713232"/>
          </a:xfrm>
          <a:prstGeom prst="rect">
            <a:avLst/>
          </a:prstGeom>
          <a:noFill/>
          <a:ln/>
        </p:spPr>
        <p:txBody>
          <a:bodyPr wrap="square" lIns="0" tIns="0" rIns="0" bIns="0" rtlCol="0" anchor="ctr"/>
          <a:lstStyle/>
          <a:p>
            <a:pPr indent="0" marL="0">
              <a:buNone/>
            </a:pPr>
            <a:r>
              <a:rPr lang="en-US" sz="2800" b="1" dirty="0">
                <a:solidFill>
                  <a:schemeClr val="accent1"/>
                </a:solidFill>
              </a:rPr>
              <a:t>0.85</a:t>
            </a:r>
            <a:endParaRPr lang="en-US" sz="2800" dirty="0"/>
          </a:p>
        </p:txBody>
      </p:sp>
      <p:sp>
        <p:nvSpPr>
          <p:cNvPr id="15" name="Text 12"/>
          <p:cNvSpPr txBox="1"/>
          <p:nvPr/>
        </p:nvSpPr>
        <p:spPr>
          <a:xfrm>
            <a:off x="5897880" y="1234440"/>
            <a:ext cx="2651760" cy="713232"/>
          </a:xfrm>
          <a:prstGeom prst="rect">
            <a:avLst/>
          </a:prstGeom>
          <a:noFill/>
          <a:ln/>
        </p:spPr>
        <p:txBody>
          <a:bodyPr wrap="square" lIns="0" tIns="0" rIns="0" bIns="0" rtlCol="0" anchor="ctr"/>
          <a:lstStyle/>
          <a:p>
            <a:pPr indent="0" marL="0">
              <a:buNone/>
            </a:pPr>
            <a:r>
              <a:rPr lang="en-US" sz="1600" b="1" dirty="0">
                <a:solidFill>
                  <a:schemeClr val="tx1"/>
                </a:solidFill>
              </a:rPr>
              <a:t>Accuracy</a:t>
            </a:r>
            <a:endParaRPr lang="en-US" sz="1400" dirty="0"/>
          </a:p>
          <a:p>
            <a:pPr indent="0" marL="0">
              <a:buNone/>
            </a:pPr>
            <a:r>
              <a:rPr lang="en-US" sz="1200" dirty="0">
                <a:solidFill>
                  <a:schemeClr val="tx2"/>
                </a:solidFill>
              </a:rPr>
              <a:t>(TP + TN) / n</a:t>
            </a:r>
            <a:endParaRPr lang="en-US" sz="1400" dirty="0"/>
          </a:p>
        </p:txBody>
      </p:sp>
      <p:sp>
        <p:nvSpPr>
          <p:cNvPr id="16" name="Card 39"/>
          <p:cNvSpPr/>
          <p:nvPr/>
        </p:nvSpPr>
        <p:spPr>
          <a:xfrm>
            <a:off x="4572000" y="2057400"/>
            <a:ext cx="4114800" cy="713232"/>
          </a:xfrm>
          <a:prstGeom prst="roundRect">
            <a:avLst>
              <a:gd name="adj" fmla="val 12821"/>
            </a:avLst>
          </a:prstGeom>
          <a:solidFill>
            <a:schemeClr val="bg2"/>
          </a:solidFill>
          <a:ln/>
        </p:spPr>
      </p:sp>
      <p:sp>
        <p:nvSpPr>
          <p:cNvPr id="17" name="Text 14"/>
          <p:cNvSpPr txBox="1"/>
          <p:nvPr/>
        </p:nvSpPr>
        <p:spPr>
          <a:xfrm>
            <a:off x="4709160" y="2057400"/>
            <a:ext cx="1097280" cy="713232"/>
          </a:xfrm>
          <a:prstGeom prst="rect">
            <a:avLst/>
          </a:prstGeom>
          <a:noFill/>
          <a:ln/>
        </p:spPr>
        <p:txBody>
          <a:bodyPr wrap="square" lIns="0" tIns="0" rIns="0" bIns="0" rtlCol="0" anchor="ctr"/>
          <a:lstStyle/>
          <a:p>
            <a:pPr indent="0" marL="0">
              <a:buNone/>
            </a:pPr>
            <a:r>
              <a:rPr lang="en-US" sz="2800" b="1" dirty="0">
                <a:solidFill>
                  <a:schemeClr val="accent1"/>
                </a:solidFill>
              </a:rPr>
              <a:t>0.89</a:t>
            </a:r>
            <a:endParaRPr lang="en-US" sz="2800" dirty="0"/>
          </a:p>
        </p:txBody>
      </p:sp>
      <p:sp>
        <p:nvSpPr>
          <p:cNvPr id="18" name="Text 15"/>
          <p:cNvSpPr txBox="1"/>
          <p:nvPr/>
        </p:nvSpPr>
        <p:spPr>
          <a:xfrm>
            <a:off x="5897880" y="2057400"/>
            <a:ext cx="2651760" cy="713232"/>
          </a:xfrm>
          <a:prstGeom prst="rect">
            <a:avLst/>
          </a:prstGeom>
          <a:noFill/>
          <a:ln/>
        </p:spPr>
        <p:txBody>
          <a:bodyPr wrap="square" lIns="0" tIns="0" rIns="0" bIns="0" rtlCol="0" anchor="ctr"/>
          <a:lstStyle/>
          <a:p>
            <a:pPr indent="0" marL="0">
              <a:buNone/>
            </a:pPr>
            <a:r>
              <a:rPr lang="en-US" sz="1600" b="1" dirty="0">
                <a:solidFill>
                  <a:schemeClr val="tx1"/>
                </a:solidFill>
              </a:rPr>
              <a:t>Precision</a:t>
            </a:r>
            <a:endParaRPr lang="en-US" sz="1400" dirty="0"/>
          </a:p>
          <a:p>
            <a:pPr indent="0" marL="0">
              <a:buNone/>
            </a:pPr>
            <a:r>
              <a:rPr lang="en-US" sz="1200" dirty="0">
                <a:solidFill>
                  <a:schemeClr val="tx2"/>
                </a:solidFill>
              </a:rPr>
              <a:t>TP / (TP + FP)</a:t>
            </a:r>
            <a:endParaRPr lang="en-US" sz="1400" dirty="0"/>
          </a:p>
        </p:txBody>
      </p:sp>
      <p:sp>
        <p:nvSpPr>
          <p:cNvPr id="19" name="Card 40"/>
          <p:cNvSpPr/>
          <p:nvPr/>
        </p:nvSpPr>
        <p:spPr>
          <a:xfrm>
            <a:off x="4572000" y="2880360"/>
            <a:ext cx="4114800" cy="713232"/>
          </a:xfrm>
          <a:prstGeom prst="roundRect">
            <a:avLst>
              <a:gd name="adj" fmla="val 12821"/>
            </a:avLst>
          </a:prstGeom>
          <a:solidFill>
            <a:schemeClr val="bg2"/>
          </a:solidFill>
          <a:ln/>
        </p:spPr>
      </p:sp>
      <p:sp>
        <p:nvSpPr>
          <p:cNvPr id="20" name="Text 17"/>
          <p:cNvSpPr txBox="1"/>
          <p:nvPr/>
        </p:nvSpPr>
        <p:spPr>
          <a:xfrm>
            <a:off x="4709160" y="2880360"/>
            <a:ext cx="1097280" cy="713232"/>
          </a:xfrm>
          <a:prstGeom prst="rect">
            <a:avLst/>
          </a:prstGeom>
          <a:noFill/>
          <a:ln/>
        </p:spPr>
        <p:txBody>
          <a:bodyPr wrap="square" lIns="0" tIns="0" rIns="0" bIns="0" rtlCol="0" anchor="ctr"/>
          <a:lstStyle/>
          <a:p>
            <a:pPr indent="0" marL="0">
              <a:buNone/>
            </a:pPr>
            <a:r>
              <a:rPr lang="en-US" sz="2800" b="1" dirty="0">
                <a:solidFill>
                  <a:schemeClr val="accent1"/>
                </a:solidFill>
              </a:rPr>
              <a:t>0.80</a:t>
            </a:r>
            <a:endParaRPr lang="en-US" sz="2800" dirty="0"/>
          </a:p>
        </p:txBody>
      </p:sp>
      <p:sp>
        <p:nvSpPr>
          <p:cNvPr id="21" name="Text 18"/>
          <p:cNvSpPr txBox="1"/>
          <p:nvPr/>
        </p:nvSpPr>
        <p:spPr>
          <a:xfrm>
            <a:off x="5897880" y="2880360"/>
            <a:ext cx="2651760" cy="713232"/>
          </a:xfrm>
          <a:prstGeom prst="rect">
            <a:avLst/>
          </a:prstGeom>
          <a:noFill/>
          <a:ln/>
        </p:spPr>
        <p:txBody>
          <a:bodyPr wrap="square" lIns="0" tIns="0" rIns="0" bIns="0" rtlCol="0" anchor="ctr"/>
          <a:lstStyle/>
          <a:p>
            <a:pPr indent="0" marL="0">
              <a:buNone/>
            </a:pPr>
            <a:r>
              <a:rPr lang="en-US" sz="1600" b="1" dirty="0">
                <a:solidFill>
                  <a:schemeClr val="tx1"/>
                </a:solidFill>
              </a:rPr>
              <a:t>Recall</a:t>
            </a:r>
            <a:endParaRPr lang="en-US" sz="1400" dirty="0"/>
          </a:p>
          <a:p>
            <a:pPr indent="0" marL="0">
              <a:buNone/>
            </a:pPr>
            <a:r>
              <a:rPr lang="en-US" sz="1200" dirty="0">
                <a:solidFill>
                  <a:schemeClr val="tx2"/>
                </a:solidFill>
              </a:rPr>
              <a:t>TP / (TP + FN)</a:t>
            </a:r>
            <a:endParaRPr lang="en-US" sz="1400" dirty="0"/>
          </a:p>
        </p:txBody>
      </p:sp>
      <p:sp>
        <p:nvSpPr>
          <p:cNvPr id="22" name="Card 41"/>
          <p:cNvSpPr/>
          <p:nvPr/>
        </p:nvSpPr>
        <p:spPr>
          <a:xfrm>
            <a:off x="4572000" y="3703320"/>
            <a:ext cx="4114800" cy="713232"/>
          </a:xfrm>
          <a:prstGeom prst="roundRect">
            <a:avLst>
              <a:gd name="adj" fmla="val 12821"/>
            </a:avLst>
          </a:prstGeom>
          <a:solidFill>
            <a:schemeClr val="bg2"/>
          </a:solidFill>
          <a:ln/>
        </p:spPr>
      </p:sp>
      <p:sp>
        <p:nvSpPr>
          <p:cNvPr id="23" name="Text 20"/>
          <p:cNvSpPr txBox="1"/>
          <p:nvPr/>
        </p:nvSpPr>
        <p:spPr>
          <a:xfrm>
            <a:off x="4709160" y="3703320"/>
            <a:ext cx="1097280" cy="713232"/>
          </a:xfrm>
          <a:prstGeom prst="rect">
            <a:avLst/>
          </a:prstGeom>
          <a:noFill/>
          <a:ln/>
        </p:spPr>
        <p:txBody>
          <a:bodyPr wrap="square" lIns="0" tIns="0" rIns="0" bIns="0" rtlCol="0" anchor="ctr"/>
          <a:lstStyle/>
          <a:p>
            <a:pPr indent="0" marL="0">
              <a:buNone/>
            </a:pPr>
            <a:r>
              <a:rPr lang="en-US" sz="2800" b="1" dirty="0">
                <a:solidFill>
                  <a:schemeClr val="accent1"/>
                </a:solidFill>
              </a:rPr>
              <a:t>0.84</a:t>
            </a:r>
            <a:endParaRPr lang="en-US" sz="2800" dirty="0"/>
          </a:p>
        </p:txBody>
      </p:sp>
      <p:sp>
        <p:nvSpPr>
          <p:cNvPr id="24" name="Text 21"/>
          <p:cNvSpPr txBox="1"/>
          <p:nvPr/>
        </p:nvSpPr>
        <p:spPr>
          <a:xfrm>
            <a:off x="5897880" y="3703320"/>
            <a:ext cx="2651760" cy="713232"/>
          </a:xfrm>
          <a:prstGeom prst="rect">
            <a:avLst/>
          </a:prstGeom>
          <a:noFill/>
          <a:ln/>
        </p:spPr>
        <p:txBody>
          <a:bodyPr wrap="square" lIns="0" tIns="0" rIns="0" bIns="0" rtlCol="0" anchor="ctr"/>
          <a:lstStyle/>
          <a:p>
            <a:pPr indent="0" marL="0">
              <a:buNone/>
            </a:pPr>
            <a:r>
              <a:rPr lang="en-US" sz="1600" b="1" dirty="0">
                <a:solidFill>
                  <a:schemeClr val="tx1"/>
                </a:solidFill>
              </a:rPr>
              <a:t>F1 score</a:t>
            </a:r>
            <a:endParaRPr lang="en-US" sz="1400" dirty="0"/>
          </a:p>
          <a:p>
            <a:pPr indent="0" marL="0">
              <a:buNone/>
            </a:pPr>
            <a:r>
              <a:rPr lang="en-US" sz="1200" dirty="0">
                <a:solidFill>
                  <a:schemeClr val="tx2"/>
                </a:solidFill>
              </a:rPr>
              <a:t>harmonic mean of the two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Regularization</a:t>
            </a:r>
            <a:endParaRPr lang="en-US" sz="3600" dirty="0"/>
          </a:p>
        </p:txBody>
      </p:sp>
      <p:sp>
        <p:nvSpPr>
          <p:cNvPr id="4" name="Card 42"/>
          <p:cNvSpPr/>
          <p:nvPr/>
        </p:nvSpPr>
        <p:spPr>
          <a:xfrm>
            <a:off x="457200" y="1234440"/>
            <a:ext cx="2560320" cy="2423160"/>
          </a:xfrm>
          <a:prstGeom prst="roundRect">
            <a:avLst>
              <a:gd name="adj" fmla="val 3774"/>
            </a:avLst>
          </a:prstGeom>
          <a:solidFill>
            <a:schemeClr val="bg2"/>
          </a:solidFill>
          <a:ln/>
        </p:spPr>
      </p:sp>
      <p:sp>
        <p:nvSpPr>
          <p:cNvPr id="5" name="Text 2"/>
          <p:cNvSpPr txBox="1"/>
          <p:nvPr/>
        </p:nvSpPr>
        <p:spPr>
          <a:xfrm>
            <a:off x="640080" y="13716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Ridge (L2)</a:t>
            </a:r>
            <a:endParaRPr lang="en-US" sz="2000" dirty="0"/>
          </a:p>
        </p:txBody>
      </p:sp>
      <p:sp>
        <p:nvSpPr>
          <p:cNvPr id="6" name="Text 3"/>
          <p:cNvSpPr txBox="1"/>
          <p:nvPr/>
        </p:nvSpPr>
        <p:spPr>
          <a:xfrm>
            <a:off x="640080" y="182880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λ Σ b</a:t>
            </a:r>
            <a:pPr indent="0" marL="0">
              <a:buNone/>
            </a:pPr>
            <a:r>
              <a:rPr lang="en-US" sz="1600" b="1" baseline="-40000" dirty="0">
                <a:solidFill>
                  <a:schemeClr val="accent1"/>
                </a:solidFill>
              </a:rPr>
              <a:t>j</a:t>
            </a:r>
            <a:pPr indent="0" marL="0">
              <a:buNone/>
            </a:pPr>
            <a:r>
              <a:rPr lang="en-US" sz="1600" b="1" baseline="30000" dirty="0">
                <a:solidFill>
                  <a:schemeClr val="accent1"/>
                </a:solidFill>
              </a:rPr>
              <a:t>2</a:t>
            </a:r>
            <a:endParaRPr lang="en-US" sz="1600" dirty="0"/>
          </a:p>
        </p:txBody>
      </p:sp>
      <p:sp>
        <p:nvSpPr>
          <p:cNvPr id="7" name="Text 4"/>
          <p:cNvSpPr txBox="1"/>
          <p:nvPr/>
        </p:nvSpPr>
        <p:spPr>
          <a:xfrm>
            <a:off x="640080" y="2331720"/>
            <a:ext cx="2194560" cy="123444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Shrinks all coefficients smoothly.</a:t>
            </a:r>
            <a:endParaRPr lang="en-US" sz="1400" dirty="0"/>
          </a:p>
          <a:p>
            <a:pPr indent="0" marL="0">
              <a:buNone/>
            </a:pPr>
            <a:r>
              <a:rPr lang="en-US" sz="1400" dirty="0">
                <a:solidFill>
                  <a:schemeClr val="tx2"/>
                </a:solidFill>
              </a:rPr>
              <a:t>Best for correlated features.</a:t>
            </a:r>
            <a:endParaRPr lang="en-US" sz="1400" dirty="0"/>
          </a:p>
        </p:txBody>
      </p:sp>
      <p:sp>
        <p:nvSpPr>
          <p:cNvPr id="8" name="Card 43"/>
          <p:cNvSpPr/>
          <p:nvPr/>
        </p:nvSpPr>
        <p:spPr>
          <a:xfrm>
            <a:off x="3291840" y="1234440"/>
            <a:ext cx="2560320" cy="2423160"/>
          </a:xfrm>
          <a:prstGeom prst="roundRect">
            <a:avLst>
              <a:gd name="adj" fmla="val 3774"/>
            </a:avLst>
          </a:prstGeom>
          <a:solidFill>
            <a:schemeClr val="bg2"/>
          </a:solidFill>
          <a:ln/>
        </p:spPr>
      </p:sp>
      <p:sp>
        <p:nvSpPr>
          <p:cNvPr id="9" name="Text 6"/>
          <p:cNvSpPr txBox="1"/>
          <p:nvPr/>
        </p:nvSpPr>
        <p:spPr>
          <a:xfrm>
            <a:off x="3474720" y="13716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Lasso (L1)</a:t>
            </a:r>
            <a:endParaRPr lang="en-US" sz="2000" dirty="0"/>
          </a:p>
        </p:txBody>
      </p:sp>
      <p:sp>
        <p:nvSpPr>
          <p:cNvPr id="10" name="Text 7"/>
          <p:cNvSpPr txBox="1"/>
          <p:nvPr/>
        </p:nvSpPr>
        <p:spPr>
          <a:xfrm>
            <a:off x="3474720" y="182880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λ Σ |b</a:t>
            </a:r>
            <a:pPr indent="0" marL="0">
              <a:buNone/>
            </a:pPr>
            <a:r>
              <a:rPr lang="en-US" sz="1600" b="1" baseline="-40000" dirty="0">
                <a:solidFill>
                  <a:schemeClr val="accent1"/>
                </a:solidFill>
              </a:rPr>
              <a:t>j</a:t>
            </a:r>
            <a:pPr indent="0" marL="0">
              <a:buNone/>
            </a:pPr>
            <a:r>
              <a:rPr lang="en-US" sz="1600" b="1" dirty="0">
                <a:solidFill>
                  <a:schemeClr val="accent1"/>
                </a:solidFill>
              </a:rPr>
              <a:t>|</a:t>
            </a:r>
            <a:endParaRPr lang="en-US" sz="1600" dirty="0"/>
          </a:p>
        </p:txBody>
      </p:sp>
      <p:sp>
        <p:nvSpPr>
          <p:cNvPr id="11" name="Text 8"/>
          <p:cNvSpPr txBox="1"/>
          <p:nvPr/>
        </p:nvSpPr>
        <p:spPr>
          <a:xfrm>
            <a:off x="3474720" y="2331720"/>
            <a:ext cx="2194560" cy="123444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Drives some coefficients to exactly 0.</a:t>
            </a:r>
            <a:endParaRPr lang="en-US" sz="1400" dirty="0"/>
          </a:p>
          <a:p>
            <a:pPr indent="0" marL="0">
              <a:buNone/>
            </a:pPr>
            <a:r>
              <a:rPr lang="en-US" sz="1400" dirty="0">
                <a:solidFill>
                  <a:schemeClr val="tx2"/>
                </a:solidFill>
              </a:rPr>
              <a:t>Best for feature selection.</a:t>
            </a:r>
            <a:endParaRPr lang="en-US" sz="1400" dirty="0"/>
          </a:p>
        </p:txBody>
      </p:sp>
      <p:sp>
        <p:nvSpPr>
          <p:cNvPr id="12" name="Card 44"/>
          <p:cNvSpPr/>
          <p:nvPr/>
        </p:nvSpPr>
        <p:spPr>
          <a:xfrm>
            <a:off x="6126480" y="1234440"/>
            <a:ext cx="2560320" cy="2423160"/>
          </a:xfrm>
          <a:prstGeom prst="roundRect">
            <a:avLst>
              <a:gd name="adj" fmla="val 3774"/>
            </a:avLst>
          </a:prstGeom>
          <a:solidFill>
            <a:schemeClr val="bg2"/>
          </a:solidFill>
          <a:ln/>
        </p:spPr>
      </p:sp>
      <p:sp>
        <p:nvSpPr>
          <p:cNvPr id="13" name="Text 10"/>
          <p:cNvSpPr txBox="1"/>
          <p:nvPr/>
        </p:nvSpPr>
        <p:spPr>
          <a:xfrm>
            <a:off x="6309360" y="13716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Elastic Net</a:t>
            </a:r>
            <a:endParaRPr lang="en-US" sz="2000" dirty="0"/>
          </a:p>
        </p:txBody>
      </p:sp>
      <p:sp>
        <p:nvSpPr>
          <p:cNvPr id="14" name="Text 11"/>
          <p:cNvSpPr txBox="1"/>
          <p:nvPr/>
        </p:nvSpPr>
        <p:spPr>
          <a:xfrm>
            <a:off x="6309360" y="182880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α·L1 + (1−α)·L2</a:t>
            </a:r>
            <a:endParaRPr lang="en-US" sz="1600" dirty="0"/>
          </a:p>
        </p:txBody>
      </p:sp>
      <p:sp>
        <p:nvSpPr>
          <p:cNvPr id="15" name="Text 12"/>
          <p:cNvSpPr txBox="1"/>
          <p:nvPr/>
        </p:nvSpPr>
        <p:spPr>
          <a:xfrm>
            <a:off x="6309360" y="2331720"/>
            <a:ext cx="2194560" cy="123444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Mixes both penalties.</a:t>
            </a:r>
            <a:endParaRPr lang="en-US" sz="1400" dirty="0"/>
          </a:p>
          <a:p>
            <a:pPr indent="0" marL="0">
              <a:buNone/>
            </a:pPr>
            <a:r>
              <a:rPr lang="en-US" sz="1400" dirty="0">
                <a:solidFill>
                  <a:schemeClr val="tx2"/>
                </a:solidFill>
              </a:rPr>
              <a:t>Best for many correlated features.</a:t>
            </a:r>
            <a:endParaRPr lang="en-US" sz="1400" dirty="0"/>
          </a:p>
        </p:txBody>
      </p:sp>
      <p:sp>
        <p:nvSpPr>
          <p:cNvPr id="16" name="Card 45"/>
          <p:cNvSpPr/>
          <p:nvPr/>
        </p:nvSpPr>
        <p:spPr>
          <a:xfrm>
            <a:off x="457200" y="3840480"/>
            <a:ext cx="8229600" cy="685800"/>
          </a:xfrm>
          <a:prstGeom prst="roundRect">
            <a:avLst>
              <a:gd name="adj" fmla="val 13333"/>
            </a:avLst>
          </a:prstGeom>
          <a:solidFill>
            <a:schemeClr val="accent1"/>
          </a:solidFill>
          <a:ln/>
        </p:spPr>
      </p:sp>
      <p:sp>
        <p:nvSpPr>
          <p:cNvPr id="17" name="Text 14"/>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600" b="1" dirty="0">
                <a:solidFill>
                  <a:schemeClr val="bg1"/>
                </a:solidFill>
              </a:rPr>
              <a:t>Total loss = data loss + penalty. Tune λ by cross-validation; scikit-learn’s C = 1/λ.</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Advanced: logistic regression</a:t>
            </a:r>
            <a:endParaRPr lang="en-US" sz="3600" dirty="0"/>
          </a:p>
        </p:txBody>
      </p:sp>
      <p:sp>
        <p:nvSpPr>
          <p:cNvPr id="4" name="Card 46"/>
          <p:cNvSpPr/>
          <p:nvPr/>
        </p:nvSpPr>
        <p:spPr>
          <a:xfrm>
            <a:off x="457200" y="1188720"/>
            <a:ext cx="3977640" cy="1554480"/>
          </a:xfrm>
          <a:prstGeom prst="roundRect">
            <a:avLst>
              <a:gd name="adj" fmla="val 5882"/>
            </a:avLst>
          </a:prstGeom>
          <a:solidFill>
            <a:schemeClr val="bg2"/>
          </a:solidFill>
          <a:ln/>
        </p:spPr>
      </p:sp>
      <p:sp>
        <p:nvSpPr>
          <p:cNvPr id="5" name="Badge 47"/>
          <p:cNvSpPr/>
          <p:nvPr/>
        </p:nvSpPr>
        <p:spPr>
          <a:xfrm>
            <a:off x="640080" y="1371600"/>
            <a:ext cx="502920" cy="502920"/>
          </a:xfrm>
          <a:prstGeom prst="ellipse">
            <a:avLst/>
          </a:prstGeom>
          <a:solidFill>
            <a:schemeClr val="accent2"/>
          </a:solidFill>
          <a:ln/>
        </p:spPr>
      </p:sp>
      <p:pic>
        <p:nvPicPr>
          <p:cNvPr id="6" name="Image 0" descr="ProjectDiagram icon">    </p:cNvPr>
          <p:cNvPicPr>
            <a:picLocks noChangeAspect="1"/>
          </p:cNvPicPr>
          <p:nvPr/>
        </p:nvPicPr>
        <p:blipFill>
          <a:blip r:embed="rId1"/>
          <a:stretch>
            <a:fillRect/>
          </a:stretch>
        </p:blipFill>
        <p:spPr>
          <a:xfrm>
            <a:off x="765810" y="1497330"/>
            <a:ext cx="251460" cy="251460"/>
          </a:xfrm>
          <a:prstGeom prst="rect">
            <a:avLst/>
          </a:prstGeom>
        </p:spPr>
      </p:pic>
      <p:sp>
        <p:nvSpPr>
          <p:cNvPr id="7" name="Text 3"/>
          <p:cNvSpPr txBox="1"/>
          <p:nvPr/>
        </p:nvSpPr>
        <p:spPr>
          <a:xfrm>
            <a:off x="1280160" y="137160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Multiclass: softmax</a:t>
            </a:r>
            <a:endParaRPr lang="en-US" sz="1600" dirty="0"/>
          </a:p>
        </p:txBody>
      </p:sp>
      <p:sp>
        <p:nvSpPr>
          <p:cNvPr id="8" name="Text 4"/>
          <p:cNvSpPr txBox="1"/>
          <p:nvPr/>
        </p:nvSpPr>
        <p:spPr>
          <a:xfrm>
            <a:off x="640080" y="2011680"/>
            <a:ext cx="3611880" cy="640080"/>
          </a:xfrm>
          <a:prstGeom prst="rect">
            <a:avLst/>
          </a:prstGeom>
          <a:noFill/>
          <a:ln/>
        </p:spPr>
        <p:txBody>
          <a:bodyPr wrap="square" lIns="0" tIns="0" rIns="0" bIns="0" rtlCol="0" anchor="t"/>
          <a:lstStyle/>
          <a:p>
            <a:pPr indent="0" marL="0">
              <a:buNone/>
            </a:pPr>
            <a:r>
              <a:rPr lang="en-US" sz="1400" dirty="0">
                <a:solidFill>
                  <a:schemeClr val="tx1"/>
                </a:solidFill>
              </a:rPr>
              <a:t>One probability per class, summing to 1. Or fit one-vs-rest models.</a:t>
            </a:r>
            <a:endParaRPr lang="en-US" sz="1400" dirty="0"/>
          </a:p>
        </p:txBody>
      </p:sp>
      <p:sp>
        <p:nvSpPr>
          <p:cNvPr id="9" name="Card 48"/>
          <p:cNvSpPr/>
          <p:nvPr/>
        </p:nvSpPr>
        <p:spPr>
          <a:xfrm>
            <a:off x="4709160" y="1188720"/>
            <a:ext cx="3977640" cy="1554480"/>
          </a:xfrm>
          <a:prstGeom prst="roundRect">
            <a:avLst>
              <a:gd name="adj" fmla="val 5882"/>
            </a:avLst>
          </a:prstGeom>
          <a:solidFill>
            <a:schemeClr val="bg2"/>
          </a:solidFill>
          <a:ln/>
        </p:spPr>
      </p:sp>
      <p:sp>
        <p:nvSpPr>
          <p:cNvPr id="10" name="Badge 49"/>
          <p:cNvSpPr/>
          <p:nvPr/>
        </p:nvSpPr>
        <p:spPr>
          <a:xfrm>
            <a:off x="4892040" y="1371600"/>
            <a:ext cx="502920" cy="502920"/>
          </a:xfrm>
          <a:prstGeom prst="ellipse">
            <a:avLst/>
          </a:prstGeom>
          <a:solidFill>
            <a:schemeClr val="accent2"/>
          </a:solidFill>
          <a:ln/>
        </p:spPr>
      </p:sp>
      <p:pic>
        <p:nvPicPr>
          <p:cNvPr id="11" name="Image 1" descr="BalanceScale icon">    </p:cNvPr>
          <p:cNvPicPr>
            <a:picLocks noChangeAspect="1"/>
          </p:cNvPicPr>
          <p:nvPr/>
        </p:nvPicPr>
        <p:blipFill>
          <a:blip r:embed="rId2"/>
          <a:stretch>
            <a:fillRect/>
          </a:stretch>
        </p:blipFill>
        <p:spPr>
          <a:xfrm>
            <a:off x="5017770" y="1497330"/>
            <a:ext cx="251460" cy="251460"/>
          </a:xfrm>
          <a:prstGeom prst="rect">
            <a:avLst/>
          </a:prstGeom>
        </p:spPr>
      </p:pic>
      <p:sp>
        <p:nvSpPr>
          <p:cNvPr id="12" name="Text 7"/>
          <p:cNvSpPr txBox="1"/>
          <p:nvPr/>
        </p:nvSpPr>
        <p:spPr>
          <a:xfrm>
            <a:off x="5532120" y="137160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Class imbalance</a:t>
            </a:r>
            <a:endParaRPr lang="en-US" sz="1600" dirty="0"/>
          </a:p>
        </p:txBody>
      </p:sp>
      <p:sp>
        <p:nvSpPr>
          <p:cNvPr id="13" name="Text 8"/>
          <p:cNvSpPr txBox="1"/>
          <p:nvPr/>
        </p:nvSpPr>
        <p:spPr>
          <a:xfrm>
            <a:off x="4892040" y="2011680"/>
            <a:ext cx="3611880" cy="640080"/>
          </a:xfrm>
          <a:prstGeom prst="rect">
            <a:avLst/>
          </a:prstGeom>
          <a:noFill/>
          <a:ln/>
        </p:spPr>
        <p:txBody>
          <a:bodyPr wrap="square" lIns="0" tIns="0" rIns="0" bIns="0" rtlCol="0" anchor="t"/>
          <a:lstStyle/>
          <a:p>
            <a:pPr indent="0" marL="0">
              <a:buNone/>
            </a:pPr>
            <a:r>
              <a:rPr lang="en-US" sz="1400" dirty="0">
                <a:solidFill>
                  <a:schemeClr val="tx1"/>
                </a:solidFill>
              </a:rPr>
              <a:t>Use class weights or resampling, and judge by PR-AUC rather than accuracy.</a:t>
            </a:r>
            <a:endParaRPr lang="en-US" sz="1400" dirty="0"/>
          </a:p>
        </p:txBody>
      </p:sp>
      <p:sp>
        <p:nvSpPr>
          <p:cNvPr id="14" name="Card 50"/>
          <p:cNvSpPr/>
          <p:nvPr/>
        </p:nvSpPr>
        <p:spPr>
          <a:xfrm>
            <a:off x="457200" y="2971800"/>
            <a:ext cx="3977640" cy="1554480"/>
          </a:xfrm>
          <a:prstGeom prst="roundRect">
            <a:avLst>
              <a:gd name="adj" fmla="val 5882"/>
            </a:avLst>
          </a:prstGeom>
          <a:solidFill>
            <a:schemeClr val="bg2"/>
          </a:solidFill>
          <a:ln/>
        </p:spPr>
      </p:sp>
      <p:sp>
        <p:nvSpPr>
          <p:cNvPr id="15" name="Badge 51"/>
          <p:cNvSpPr/>
          <p:nvPr/>
        </p:nvSpPr>
        <p:spPr>
          <a:xfrm>
            <a:off x="640080" y="3154680"/>
            <a:ext cx="502920" cy="502920"/>
          </a:xfrm>
          <a:prstGeom prst="ellipse">
            <a:avLst/>
          </a:prstGeom>
          <a:solidFill>
            <a:schemeClr val="accent2"/>
          </a:solidFill>
          <a:ln/>
        </p:spPr>
      </p:sp>
      <p:pic>
        <p:nvPicPr>
          <p:cNvPr id="16" name="Image 2" descr="Bullseye icon">    </p:cNvPr>
          <p:cNvPicPr>
            <a:picLocks noChangeAspect="1"/>
          </p:cNvPicPr>
          <p:nvPr/>
        </p:nvPicPr>
        <p:blipFill>
          <a:blip r:embed="rId3"/>
          <a:stretch>
            <a:fillRect/>
          </a:stretch>
        </p:blipFill>
        <p:spPr>
          <a:xfrm>
            <a:off x="765810" y="3280410"/>
            <a:ext cx="251460" cy="251460"/>
          </a:xfrm>
          <a:prstGeom prst="rect">
            <a:avLst/>
          </a:prstGeom>
        </p:spPr>
      </p:pic>
      <p:sp>
        <p:nvSpPr>
          <p:cNvPr id="17" name="Text 11"/>
          <p:cNvSpPr txBox="1"/>
          <p:nvPr/>
        </p:nvSpPr>
        <p:spPr>
          <a:xfrm>
            <a:off x="1280160" y="315468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Calibration</a:t>
            </a:r>
            <a:endParaRPr lang="en-US" sz="1600" dirty="0"/>
          </a:p>
        </p:txBody>
      </p:sp>
      <p:sp>
        <p:nvSpPr>
          <p:cNvPr id="18" name="Text 12"/>
          <p:cNvSpPr txBox="1"/>
          <p:nvPr/>
        </p:nvSpPr>
        <p:spPr>
          <a:xfrm>
            <a:off x="640080" y="3794760"/>
            <a:ext cx="3611880" cy="640080"/>
          </a:xfrm>
          <a:prstGeom prst="rect">
            <a:avLst/>
          </a:prstGeom>
          <a:noFill/>
          <a:ln/>
        </p:spPr>
        <p:txBody>
          <a:bodyPr wrap="square" lIns="0" tIns="0" rIns="0" bIns="0" rtlCol="0" anchor="t"/>
          <a:lstStyle/>
          <a:p>
            <a:pPr indent="0" marL="0">
              <a:buNone/>
            </a:pPr>
            <a:r>
              <a:rPr lang="en-US" sz="1400" dirty="0">
                <a:solidFill>
                  <a:schemeClr val="tx1"/>
                </a:solidFill>
              </a:rPr>
              <a:t>Do predicted 80% cases really happen 80% of the time? Fix with Platt or isotonic.</a:t>
            </a:r>
            <a:endParaRPr lang="en-US" sz="1400" dirty="0"/>
          </a:p>
        </p:txBody>
      </p:sp>
      <p:sp>
        <p:nvSpPr>
          <p:cNvPr id="19" name="Card 52"/>
          <p:cNvSpPr/>
          <p:nvPr/>
        </p:nvSpPr>
        <p:spPr>
          <a:xfrm>
            <a:off x="4709160" y="2971800"/>
            <a:ext cx="3977640" cy="1554480"/>
          </a:xfrm>
          <a:prstGeom prst="roundRect">
            <a:avLst>
              <a:gd name="adj" fmla="val 5882"/>
            </a:avLst>
          </a:prstGeom>
          <a:solidFill>
            <a:schemeClr val="bg2"/>
          </a:solidFill>
          <a:ln/>
        </p:spPr>
      </p:sp>
      <p:sp>
        <p:nvSpPr>
          <p:cNvPr id="20" name="Badge 53"/>
          <p:cNvSpPr/>
          <p:nvPr/>
        </p:nvSpPr>
        <p:spPr>
          <a:xfrm>
            <a:off x="4892040" y="3154680"/>
            <a:ext cx="502920" cy="502920"/>
          </a:xfrm>
          <a:prstGeom prst="ellipse">
            <a:avLst/>
          </a:prstGeom>
          <a:solidFill>
            <a:schemeClr val="accent2"/>
          </a:solidFill>
          <a:ln/>
        </p:spPr>
      </p:sp>
      <p:pic>
        <p:nvPicPr>
          <p:cNvPr id="21" name="Image 3" descr="Bolt icon">    </p:cNvPr>
          <p:cNvPicPr>
            <a:picLocks noChangeAspect="1"/>
          </p:cNvPicPr>
          <p:nvPr/>
        </p:nvPicPr>
        <p:blipFill>
          <a:blip r:embed="rId4"/>
          <a:stretch>
            <a:fillRect/>
          </a:stretch>
        </p:blipFill>
        <p:spPr>
          <a:xfrm>
            <a:off x="5017770" y="3280410"/>
            <a:ext cx="251460" cy="251460"/>
          </a:xfrm>
          <a:prstGeom prst="rect">
            <a:avLst/>
          </a:prstGeom>
        </p:spPr>
      </p:pic>
      <p:sp>
        <p:nvSpPr>
          <p:cNvPr id="22" name="Text 15"/>
          <p:cNvSpPr txBox="1"/>
          <p:nvPr/>
        </p:nvSpPr>
        <p:spPr>
          <a:xfrm>
            <a:off x="5532120" y="3154680"/>
            <a:ext cx="2971800" cy="502920"/>
          </a:xfrm>
          <a:prstGeom prst="rect">
            <a:avLst/>
          </a:prstGeom>
          <a:noFill/>
          <a:ln/>
        </p:spPr>
        <p:txBody>
          <a:bodyPr wrap="square" lIns="0" tIns="0" rIns="0" bIns="0" rtlCol="0" anchor="ctr"/>
          <a:lstStyle/>
          <a:p>
            <a:pPr indent="0" marL="0">
              <a:buNone/>
            </a:pPr>
            <a:r>
              <a:rPr lang="en-US" sz="1600" b="1" dirty="0">
                <a:solidFill>
                  <a:schemeClr val="tx1"/>
                </a:solidFill>
              </a:rPr>
              <a:t>Perfect separation</a:t>
            </a:r>
            <a:endParaRPr lang="en-US" sz="1600" dirty="0"/>
          </a:p>
        </p:txBody>
      </p:sp>
      <p:sp>
        <p:nvSpPr>
          <p:cNvPr id="23" name="Text 16"/>
          <p:cNvSpPr txBox="1"/>
          <p:nvPr/>
        </p:nvSpPr>
        <p:spPr>
          <a:xfrm>
            <a:off x="4892040" y="3794760"/>
            <a:ext cx="3611880" cy="640080"/>
          </a:xfrm>
          <a:prstGeom prst="rect">
            <a:avLst/>
          </a:prstGeom>
          <a:noFill/>
          <a:ln/>
        </p:spPr>
        <p:txBody>
          <a:bodyPr wrap="square" lIns="0" tIns="0" rIns="0" bIns="0" rtlCol="0" anchor="t"/>
          <a:lstStyle/>
          <a:p>
            <a:pPr indent="0" marL="0">
              <a:buNone/>
            </a:pPr>
            <a:r>
              <a:rPr lang="en-US" sz="1400" dirty="0">
                <a:solidFill>
                  <a:schemeClr val="tx1"/>
                </a:solidFill>
              </a:rPr>
              <a:t>Coefficients blow up when a feature separates the classes; regularize.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Linear vs logistic</a:t>
            </a:r>
            <a:endParaRPr lang="en-US" sz="3600" dirty="0"/>
          </a:p>
        </p:txBody>
      </p:sp>
      <p:graphicFrame>
        <p:nvGraphicFramePr>
          <p:cNvPr id="17"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00400"/>
                <a:gridCol w="3200400"/>
              </a:tblGrid>
              <a:tr h="365760">
                <a:tc>
                  <a:txBody>
                    <a:bodyPr/>
                    <a:lstStyle/>
                    <a:p>
                      <a:pPr algn="l" indent="0" marL="0">
                        <a:buNone/>
                      </a:pP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Linear regression</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Logistic regression</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accent1"/>
                    </a:solidFill>
                  </a:tcPr>
                </a:tc>
              </a:tr>
              <a:tr h="365760">
                <a:tc>
                  <a:txBody>
                    <a:bodyPr/>
                    <a:lstStyle/>
                    <a:p>
                      <a:pPr algn="l" indent="0" marL="0">
                        <a:buNone/>
                      </a:pPr>
                      <a:r>
                        <a:rPr lang="en-US" sz="1400" b="1" dirty="0">
                          <a:solidFill>
                            <a:schemeClr val="tx1"/>
                          </a:solidFill>
                        </a:rPr>
                        <a:t>Target</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Continuous number</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Binary class (0 or 1)</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chemeClr val="tx1"/>
                          </a:solidFill>
                        </a:rPr>
                        <a:t>Output</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Any real value</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Probability from 0 to 1</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r h="365760">
                <a:tc>
                  <a:txBody>
                    <a:bodyPr/>
                    <a:lstStyle/>
                    <a:p>
                      <a:pPr algn="l" indent="0" marL="0">
                        <a:buNone/>
                      </a:pPr>
                      <a:r>
                        <a:rPr lang="en-US" sz="1400" b="1" dirty="0">
                          <a:solidFill>
                            <a:schemeClr val="tx1"/>
                          </a:solidFill>
                        </a:rPr>
                        <a:t>Link function</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Identity</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Logit: ln(p / (1 − p))</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chemeClr val="tx1"/>
                          </a:solidFill>
                        </a:rPr>
                        <a:t>Loss</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Squared error (MSE)</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Log loss (cross-entropy)</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r h="365760">
                <a:tc>
                  <a:txBody>
                    <a:bodyPr/>
                    <a:lstStyle/>
                    <a:p>
                      <a:pPr algn="l" indent="0" marL="0">
                        <a:buNone/>
                      </a:pPr>
                      <a:r>
                        <a:rPr lang="en-US" sz="1400" b="1" dirty="0">
                          <a:solidFill>
                            <a:schemeClr val="tx1"/>
                          </a:solidFill>
                        </a:rPr>
                        <a:t>Fitting</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Normal equation or gradient</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Gradient descent or IRLS</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chemeClr val="tx1"/>
                          </a:solidFill>
                        </a:rPr>
                        <a:t>Metrics</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R², RMSE, MAE</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Accuracy, F1, AUC</a:t>
                      </a:r>
                      <a:endParaRPr lang="en-US" sz="1400" dirty="0"/>
                    </a:p>
                  </a:txBody>
                  <a:tcPr marL="91440" marR="91440" marT="45720" marB="45720" anchor="ctr">
                    <a:lnL w="9525" cap="flat" cmpd="sng" algn="ctr">
                      <a:solidFill>
                        <a:srgbClr val="D5E2E6"/>
                      </a:solidFill>
                      <a:prstDash val="solid"/>
                      <a:round/>
                      <a:headEnd type="none" w="med" len="med"/>
                      <a:tailEnd type="none" w="med" len="med"/>
                    </a:lnL>
                    <a:lnR w="9525" cap="flat" cmpd="sng" algn="ctr">
                      <a:solidFill>
                        <a:srgbClr val="D5E2E6"/>
                      </a:solidFill>
                      <a:prstDash val="solid"/>
                      <a:round/>
                      <a:headEnd type="none" w="med" len="med"/>
                      <a:tailEnd type="none" w="med" len="med"/>
                    </a:lnR>
                    <a:lnT w="9525" cap="flat" cmpd="sng" algn="ctr">
                      <a:solidFill>
                        <a:srgbClr val="D5E2E6"/>
                      </a:solidFill>
                      <a:prstDash val="solid"/>
                      <a:round/>
                      <a:headEnd type="none" w="med" len="med"/>
                      <a:tailEnd type="none" w="med" len="med"/>
                    </a:lnT>
                    <a:lnB w="9525" cap="flat" cmpd="sng" algn="ctr">
                      <a:solidFill>
                        <a:srgbClr val="D5E2E6"/>
                      </a:solidFill>
                      <a:prstDash val="solid"/>
                      <a:round/>
                      <a:headEnd type="none" w="med" len="med"/>
                      <a:tailEnd type="none" w="med" len="med"/>
                    </a:lnB>
                    <a:solidFill>
                      <a:schemeClr val="bg2"/>
                    </a:solidFill>
                  </a:tcPr>
                </a:tc>
              </a:tr>
            </a:tbl>
          </a:graphicData>
        </a:graphic>
      </p:graphicFrame>
      <p:sp>
        <p:nvSpPr>
          <p:cNvPr id="5" name="Card 54"/>
          <p:cNvSpPr/>
          <p:nvPr/>
        </p:nvSpPr>
        <p:spPr>
          <a:xfrm>
            <a:off x="457200" y="3931920"/>
            <a:ext cx="8229600" cy="594360"/>
          </a:xfrm>
          <a:prstGeom prst="roundRect">
            <a:avLst>
              <a:gd name="adj" fmla="val 15385"/>
            </a:avLst>
          </a:prstGeom>
          <a:solidFill>
            <a:schemeClr val="bg2"/>
          </a:solidFill>
          <a:ln/>
        </p:spPr>
      </p:sp>
      <p:sp>
        <p:nvSpPr>
          <p:cNvPr id="6" name="Text 2"/>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600" b="1" dirty="0">
                <a:solidFill>
                  <a:schemeClr val="accent1"/>
                </a:solidFill>
              </a:rPr>
              <a:t>Both are generalized linear models: a linear score passed through a link function.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Key takeaways</a:t>
            </a:r>
            <a:endParaRPr lang="en-US" sz="3600" dirty="0"/>
          </a:p>
        </p:txBody>
      </p:sp>
      <p:sp>
        <p:nvSpPr>
          <p:cNvPr id="4" name="Takeaway card 1"/>
          <p:cNvSpPr/>
          <p:nvPr/>
        </p:nvSpPr>
        <p:spPr>
          <a:xfrm>
            <a:off x="457200" y="1280160"/>
            <a:ext cx="3977640" cy="1554480"/>
          </a:xfrm>
          <a:prstGeom prst="roundRect">
            <a:avLst>
              <a:gd name="adj" fmla="val 5882"/>
            </a:avLst>
          </a:prstGeom>
          <a:solidFill>
            <a:schemeClr val="accent1">
              <a:alpha val="40000"/>
            </a:schemeClr>
          </a:solidFill>
          <a:ln/>
        </p:spPr>
      </p:sp>
      <p:sp>
        <p:nvSpPr>
          <p:cNvPr id="5" name="Number 1"/>
          <p:cNvSpPr txBox="1"/>
          <p:nvPr/>
        </p:nvSpPr>
        <p:spPr>
          <a:xfrm>
            <a:off x="640080" y="1783080"/>
            <a:ext cx="548640" cy="54864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Text 3"/>
          <p:cNvSpPr txBox="1"/>
          <p:nvPr/>
        </p:nvSpPr>
        <p:spPr>
          <a:xfrm>
            <a:off x="1371600" y="1371600"/>
            <a:ext cx="2926080" cy="1371600"/>
          </a:xfrm>
          <a:prstGeom prst="rect">
            <a:avLst/>
          </a:prstGeom>
          <a:noFill/>
          <a:ln/>
        </p:spPr>
        <p:txBody>
          <a:bodyPr wrap="square" lIns="0" tIns="0" rIns="0" bIns="0" rtlCol="0" anchor="ctr"/>
          <a:lstStyle/>
          <a:p>
            <a:pPr indent="0" marL="0">
              <a:buNone/>
            </a:pPr>
            <a:r>
              <a:rPr lang="en-US" sz="1600" dirty="0">
                <a:solidFill>
                  <a:schemeClr val="bg1"/>
                </a:solidFill>
              </a:rPr>
              <a:t>Linear regression predicts numbers by minimising squared error.</a:t>
            </a:r>
            <a:endParaRPr lang="en-US" sz="1600" dirty="0"/>
          </a:p>
        </p:txBody>
      </p:sp>
      <p:sp>
        <p:nvSpPr>
          <p:cNvPr id="7" name="Takeaway card 2"/>
          <p:cNvSpPr/>
          <p:nvPr/>
        </p:nvSpPr>
        <p:spPr>
          <a:xfrm>
            <a:off x="4709160" y="1280160"/>
            <a:ext cx="3977640" cy="1554480"/>
          </a:xfrm>
          <a:prstGeom prst="roundRect">
            <a:avLst>
              <a:gd name="adj" fmla="val 5882"/>
            </a:avLst>
          </a:prstGeom>
          <a:solidFill>
            <a:schemeClr val="accent1">
              <a:alpha val="40000"/>
            </a:schemeClr>
          </a:solidFill>
          <a:ln/>
        </p:spPr>
      </p:sp>
      <p:sp>
        <p:nvSpPr>
          <p:cNvPr id="8" name="Number 2"/>
          <p:cNvSpPr txBox="1"/>
          <p:nvPr/>
        </p:nvSpPr>
        <p:spPr>
          <a:xfrm>
            <a:off x="4892040" y="1783080"/>
            <a:ext cx="548640" cy="54864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9" name="Text 6"/>
          <p:cNvSpPr txBox="1"/>
          <p:nvPr/>
        </p:nvSpPr>
        <p:spPr>
          <a:xfrm>
            <a:off x="5623560" y="1371600"/>
            <a:ext cx="2926080" cy="1371600"/>
          </a:xfrm>
          <a:prstGeom prst="rect">
            <a:avLst/>
          </a:prstGeom>
          <a:noFill/>
          <a:ln/>
        </p:spPr>
        <p:txBody>
          <a:bodyPr wrap="square" lIns="0" tIns="0" rIns="0" bIns="0" rtlCol="0" anchor="ctr"/>
          <a:lstStyle/>
          <a:p>
            <a:pPr indent="0" marL="0">
              <a:buNone/>
            </a:pPr>
            <a:r>
              <a:rPr lang="en-US" sz="1600" dirty="0">
                <a:solidFill>
                  <a:schemeClr val="bg1"/>
                </a:solidFill>
              </a:rPr>
              <a:t>Logistic regression predicts probabilities using the sigmoid and log loss.</a:t>
            </a:r>
            <a:endParaRPr lang="en-US" sz="1600" dirty="0"/>
          </a:p>
        </p:txBody>
      </p:sp>
      <p:sp>
        <p:nvSpPr>
          <p:cNvPr id="10" name="Takeaway card 3"/>
          <p:cNvSpPr/>
          <p:nvPr/>
        </p:nvSpPr>
        <p:spPr>
          <a:xfrm>
            <a:off x="457200" y="3063240"/>
            <a:ext cx="3977640" cy="1554480"/>
          </a:xfrm>
          <a:prstGeom prst="roundRect">
            <a:avLst>
              <a:gd name="adj" fmla="val 5882"/>
            </a:avLst>
          </a:prstGeom>
          <a:solidFill>
            <a:schemeClr val="accent1">
              <a:alpha val="40000"/>
            </a:schemeClr>
          </a:solidFill>
          <a:ln/>
        </p:spPr>
      </p:sp>
      <p:sp>
        <p:nvSpPr>
          <p:cNvPr id="11" name="Number 3"/>
          <p:cNvSpPr txBox="1"/>
          <p:nvPr/>
        </p:nvSpPr>
        <p:spPr>
          <a:xfrm>
            <a:off x="640080" y="3566160"/>
            <a:ext cx="548640" cy="54864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2" name="Text 9"/>
          <p:cNvSpPr txBox="1"/>
          <p:nvPr/>
        </p:nvSpPr>
        <p:spPr>
          <a:xfrm>
            <a:off x="1371600" y="3154680"/>
            <a:ext cx="2926080" cy="1371600"/>
          </a:xfrm>
          <a:prstGeom prst="rect">
            <a:avLst/>
          </a:prstGeom>
          <a:noFill/>
          <a:ln/>
        </p:spPr>
        <p:txBody>
          <a:bodyPr wrap="square" lIns="0" tIns="0" rIns="0" bIns="0" rtlCol="0" anchor="ctr"/>
          <a:lstStyle/>
          <a:p>
            <a:pPr indent="0" marL="0">
              <a:buNone/>
            </a:pPr>
            <a:r>
              <a:rPr lang="en-US" sz="1600" dirty="0">
                <a:solidFill>
                  <a:schemeClr val="bg1"/>
                </a:solidFill>
              </a:rPr>
              <a:t>Check assumptions, scale features, and evaluate on unseen data.</a:t>
            </a:r>
            <a:endParaRPr lang="en-US" sz="1600" dirty="0"/>
          </a:p>
        </p:txBody>
      </p:sp>
      <p:sp>
        <p:nvSpPr>
          <p:cNvPr id="13" name="Takeaway card 4"/>
          <p:cNvSpPr/>
          <p:nvPr/>
        </p:nvSpPr>
        <p:spPr>
          <a:xfrm>
            <a:off x="4709160" y="3063240"/>
            <a:ext cx="3977640" cy="1554480"/>
          </a:xfrm>
          <a:prstGeom prst="roundRect">
            <a:avLst>
              <a:gd name="adj" fmla="val 5882"/>
            </a:avLst>
          </a:prstGeom>
          <a:solidFill>
            <a:schemeClr val="accent1">
              <a:alpha val="40000"/>
            </a:schemeClr>
          </a:solidFill>
          <a:ln/>
        </p:spPr>
      </p:sp>
      <p:sp>
        <p:nvSpPr>
          <p:cNvPr id="14" name="Number 4"/>
          <p:cNvSpPr txBox="1"/>
          <p:nvPr/>
        </p:nvSpPr>
        <p:spPr>
          <a:xfrm>
            <a:off x="4892040" y="3566160"/>
            <a:ext cx="548640" cy="54864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15" name="Text 12"/>
          <p:cNvSpPr txBox="1"/>
          <p:nvPr/>
        </p:nvSpPr>
        <p:spPr>
          <a:xfrm>
            <a:off x="5623560" y="3154680"/>
            <a:ext cx="2926080" cy="1371600"/>
          </a:xfrm>
          <a:prstGeom prst="rect">
            <a:avLst/>
          </a:prstGeom>
          <a:noFill/>
          <a:ln/>
        </p:spPr>
        <p:txBody>
          <a:bodyPr wrap="square" lIns="0" tIns="0" rIns="0" bIns="0" rtlCol="0" anchor="ctr"/>
          <a:lstStyle/>
          <a:p>
            <a:pPr indent="0" marL="0">
              <a:buNone/>
            </a:pPr>
            <a:r>
              <a:rPr lang="en-US" sz="1600" dirty="0">
                <a:solidFill>
                  <a:schemeClr val="bg1"/>
                </a:solidFill>
              </a:rPr>
              <a:t>Regularize, tune the cutoff, and check calibration to go further.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References and projects</a:t>
            </a:r>
            <a:endParaRPr lang="en-US" sz="3600" dirty="0"/>
          </a:p>
        </p:txBody>
      </p:sp>
      <p:sp>
        <p:nvSpPr>
          <p:cNvPr id="4" name="Card 55"/>
          <p:cNvSpPr/>
          <p:nvPr/>
        </p:nvSpPr>
        <p:spPr>
          <a:xfrm>
            <a:off x="457200" y="1188720"/>
            <a:ext cx="3977640" cy="3383280"/>
          </a:xfrm>
          <a:prstGeom prst="roundRect">
            <a:avLst>
              <a:gd name="adj" fmla="val 2703"/>
            </a:avLst>
          </a:prstGeom>
          <a:solidFill>
            <a:schemeClr val="bg2"/>
          </a:solidFill>
          <a:ln/>
        </p:spPr>
      </p:sp>
      <p:sp>
        <p:nvSpPr>
          <p:cNvPr id="5" name="Badge 56"/>
          <p:cNvSpPr/>
          <p:nvPr/>
        </p:nvSpPr>
        <p:spPr>
          <a:xfrm>
            <a:off x="640080" y="1325880"/>
            <a:ext cx="457200" cy="457200"/>
          </a:xfrm>
          <a:prstGeom prst="ellipse">
            <a:avLst/>
          </a:prstGeom>
          <a:solidFill>
            <a:schemeClr val="accent1"/>
          </a:solidFill>
          <a:ln/>
        </p:spPr>
      </p:sp>
      <p:pic>
        <p:nvPicPr>
          <p:cNvPr id="6" name="Image 0" descr="Search icon">    </p:cNvPr>
          <p:cNvPicPr>
            <a:picLocks noChangeAspect="1"/>
          </p:cNvPicPr>
          <p:nvPr/>
        </p:nvPicPr>
        <p:blipFill>
          <a:blip r:embed="rId1"/>
          <a:stretch>
            <a:fillRect/>
          </a:stretch>
        </p:blipFill>
        <p:spPr>
          <a:xfrm>
            <a:off x="754380" y="1440180"/>
            <a:ext cx="228600" cy="228600"/>
          </a:xfrm>
          <a:prstGeom prst="rect">
            <a:avLst/>
          </a:prstGeom>
        </p:spPr>
      </p:pic>
      <p:sp>
        <p:nvSpPr>
          <p:cNvPr id="7" name="Text 3"/>
          <p:cNvSpPr txBox="1"/>
          <p:nvPr/>
        </p:nvSpPr>
        <p:spPr>
          <a:xfrm>
            <a:off x="1234440" y="132588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Reading</a:t>
            </a:r>
            <a:endParaRPr lang="en-US" sz="1800" dirty="0"/>
          </a:p>
        </p:txBody>
      </p:sp>
      <p:sp>
        <p:nvSpPr>
          <p:cNvPr id="8" name="Text 4"/>
          <p:cNvSpPr txBox="1"/>
          <p:nvPr/>
        </p:nvSpPr>
        <p:spPr>
          <a:xfrm>
            <a:off x="640080" y="1965960"/>
            <a:ext cx="3611880" cy="274320"/>
          </a:xfrm>
          <a:prstGeom prst="rect">
            <a:avLst/>
          </a:prstGeom>
          <a:noFill/>
          <a:ln/>
        </p:spPr>
        <p:txBody>
          <a:bodyPr wrap="square" lIns="0" tIns="0" rIns="0" bIns="0" rtlCol="0" anchor="t"/>
          <a:lstStyle/>
          <a:p>
            <a:pPr indent="0" marL="0">
              <a:buNone/>
            </a:pPr>
            <a:r>
              <a:rPr lang="en-US" sz="1400" b="1" dirty="0">
                <a:solidFill>
                  <a:schemeClr val="tx1"/>
                </a:solidFill>
              </a:rPr>
              <a:t>scikit-learn: Linear Models</a:t>
            </a:r>
            <a:endParaRPr lang="en-US" sz="1400" dirty="0"/>
          </a:p>
        </p:txBody>
      </p:sp>
      <p:sp>
        <p:nvSpPr>
          <p:cNvPr id="9" name="Text 5"/>
          <p:cNvSpPr txBox="1"/>
          <p:nvPr/>
        </p:nvSpPr>
        <p:spPr>
          <a:xfrm>
            <a:off x="640080" y="2240280"/>
            <a:ext cx="3611880" cy="228600"/>
          </a:xfrm>
          <a:prstGeom prst="rect">
            <a:avLst/>
          </a:prstGeom>
          <a:noFill/>
          <a:ln/>
        </p:spPr>
        <p:txBody>
          <a:bodyPr wrap="square" lIns="0" tIns="0" rIns="0" bIns="0" rtlCol="0" anchor="t"/>
          <a:lstStyle/>
          <a:p>
            <a:pPr indent="0" marL="0">
              <a:buNone/>
            </a:pPr>
            <a:r>
              <a:rPr lang="en-US" sz="1200" u="sng" dirty="0">
                <a:solidFill>
                  <a:schemeClr val="tx1"/>
                </a:solidFill>
                <a:hlinkClick r:id="rId2" invalidUrl="" action="" tgtFrame="" tooltip="https://scikit-learn.org/stable/modules/linear_model.html" history="1" highlightClick="0" endSnd="0">
                  <a:extLst>
                    <a:ext uri="{A12FA001-AC4F-418D-AE19-62706E023703}">
                      <ahyp:hlinkClr xmlns:ahyp="http://schemas.microsoft.com/office/drawing/2018/hyperlinkcolor" val="tx"/>
                    </a:ext>
                  </a:extLst>
                </a:hlinkClick>
              </a:rPr>
              <a:t>scikit-learn.org/stable/modules/linear_model.html</a:t>
            </a:r>
            <a:endParaRPr lang="en-US" sz="1200" dirty="0"/>
          </a:p>
        </p:txBody>
      </p:sp>
      <p:sp>
        <p:nvSpPr>
          <p:cNvPr id="10" name="Text 6"/>
          <p:cNvSpPr txBox="1"/>
          <p:nvPr/>
        </p:nvSpPr>
        <p:spPr>
          <a:xfrm>
            <a:off x="640080" y="2468880"/>
            <a:ext cx="3611880" cy="274320"/>
          </a:xfrm>
          <a:prstGeom prst="rect">
            <a:avLst/>
          </a:prstGeom>
          <a:noFill/>
          <a:ln/>
        </p:spPr>
        <p:txBody>
          <a:bodyPr wrap="square" lIns="0" tIns="0" rIns="0" bIns="0" rtlCol="0" anchor="t"/>
          <a:lstStyle/>
          <a:p>
            <a:pPr indent="0" marL="0">
              <a:buNone/>
            </a:pPr>
            <a:r>
              <a:rPr lang="en-US" sz="1400" dirty="0">
                <a:solidFill>
                  <a:schemeClr val="tx2"/>
                </a:solidFill>
              </a:rPr>
              <a:t>OLS, ridge, lasso, logistic regression</a:t>
            </a:r>
            <a:endParaRPr lang="en-US" sz="1400" dirty="0"/>
          </a:p>
        </p:txBody>
      </p:sp>
      <p:sp>
        <p:nvSpPr>
          <p:cNvPr id="11" name="Text 7"/>
          <p:cNvSpPr txBox="1"/>
          <p:nvPr/>
        </p:nvSpPr>
        <p:spPr>
          <a:xfrm>
            <a:off x="640080" y="2834640"/>
            <a:ext cx="3611880" cy="274320"/>
          </a:xfrm>
          <a:prstGeom prst="rect">
            <a:avLst/>
          </a:prstGeom>
          <a:noFill/>
          <a:ln/>
        </p:spPr>
        <p:txBody>
          <a:bodyPr wrap="square" lIns="0" tIns="0" rIns="0" bIns="0" rtlCol="0" anchor="t"/>
          <a:lstStyle/>
          <a:p>
            <a:pPr indent="0" marL="0">
              <a:buNone/>
            </a:pPr>
            <a:r>
              <a:rPr lang="en-US" sz="1400" b="1" dirty="0">
                <a:solidFill>
                  <a:schemeClr val="tx1"/>
                </a:solidFill>
              </a:rPr>
              <a:t>An Introduction to Statistical Learning</a:t>
            </a:r>
            <a:endParaRPr lang="en-US" sz="1400" dirty="0"/>
          </a:p>
        </p:txBody>
      </p:sp>
      <p:sp>
        <p:nvSpPr>
          <p:cNvPr id="12" name="Text 8"/>
          <p:cNvSpPr txBox="1"/>
          <p:nvPr/>
        </p:nvSpPr>
        <p:spPr>
          <a:xfrm>
            <a:off x="640080" y="3108960"/>
            <a:ext cx="3611880" cy="228600"/>
          </a:xfrm>
          <a:prstGeom prst="rect">
            <a:avLst/>
          </a:prstGeom>
          <a:noFill/>
          <a:ln/>
        </p:spPr>
        <p:txBody>
          <a:bodyPr wrap="square" lIns="0" tIns="0" rIns="0" bIns="0" rtlCol="0" anchor="t"/>
          <a:lstStyle/>
          <a:p>
            <a:pPr indent="0" marL="0">
              <a:buNone/>
            </a:pPr>
            <a:r>
              <a:rPr lang="en-US" sz="1200" u="sng" dirty="0">
                <a:solidFill>
                  <a:schemeClr val="tx1"/>
                </a:solidFill>
                <a:hlinkClick r:id="rId3" invalidUrl="" action="" tgtFrame="" tooltip="https://www.statlearning.com" history="1" highlightClick="0" endSnd="0">
                  <a:extLst>
                    <a:ext uri="{A12FA001-AC4F-418D-AE19-62706E023703}">
                      <ahyp:hlinkClr xmlns:ahyp="http://schemas.microsoft.com/office/drawing/2018/hyperlinkcolor" val="tx"/>
                    </a:ext>
                  </a:extLst>
                </a:hlinkClick>
              </a:rPr>
              <a:t>statlearning.com</a:t>
            </a:r>
            <a:endParaRPr lang="en-US" sz="1200" dirty="0"/>
          </a:p>
        </p:txBody>
      </p:sp>
      <p:sp>
        <p:nvSpPr>
          <p:cNvPr id="13" name="Text 9"/>
          <p:cNvSpPr txBox="1"/>
          <p:nvPr/>
        </p:nvSpPr>
        <p:spPr>
          <a:xfrm>
            <a:off x="640080" y="3337560"/>
            <a:ext cx="3611880" cy="274320"/>
          </a:xfrm>
          <a:prstGeom prst="rect">
            <a:avLst/>
          </a:prstGeom>
          <a:noFill/>
          <a:ln/>
        </p:spPr>
        <p:txBody>
          <a:bodyPr wrap="square" lIns="0" tIns="0" rIns="0" bIns="0" rtlCol="0" anchor="t"/>
          <a:lstStyle/>
          <a:p>
            <a:pPr indent="0" marL="0">
              <a:buNone/>
            </a:pPr>
            <a:r>
              <a:rPr lang="en-US" sz="1400" dirty="0">
                <a:solidFill>
                  <a:schemeClr val="tx2"/>
                </a:solidFill>
              </a:rPr>
              <a:t>Book with R and Python editions</a:t>
            </a:r>
            <a:endParaRPr lang="en-US" sz="1400" dirty="0"/>
          </a:p>
        </p:txBody>
      </p:sp>
      <p:sp>
        <p:nvSpPr>
          <p:cNvPr id="14" name="Card 57"/>
          <p:cNvSpPr/>
          <p:nvPr/>
        </p:nvSpPr>
        <p:spPr>
          <a:xfrm>
            <a:off x="4709160" y="1188720"/>
            <a:ext cx="3977640" cy="3383280"/>
          </a:xfrm>
          <a:prstGeom prst="roundRect">
            <a:avLst>
              <a:gd name="adj" fmla="val 2703"/>
            </a:avLst>
          </a:prstGeom>
          <a:solidFill>
            <a:schemeClr val="bg2"/>
          </a:solidFill>
          <a:ln/>
        </p:spPr>
      </p:sp>
      <p:sp>
        <p:nvSpPr>
          <p:cNvPr id="15" name="Badge 58"/>
          <p:cNvSpPr/>
          <p:nvPr/>
        </p:nvSpPr>
        <p:spPr>
          <a:xfrm>
            <a:off x="4892040" y="1325880"/>
            <a:ext cx="457200" cy="457200"/>
          </a:xfrm>
          <a:prstGeom prst="ellipse">
            <a:avLst/>
          </a:prstGeom>
          <a:solidFill>
            <a:schemeClr val="accent2"/>
          </a:solidFill>
          <a:ln/>
        </p:spPr>
      </p:sp>
      <p:pic>
        <p:nvPicPr>
          <p:cNvPr id="16" name="Image 1" descr="Code icon">    </p:cNvPr>
          <p:cNvPicPr>
            <a:picLocks noChangeAspect="1"/>
          </p:cNvPicPr>
          <p:nvPr/>
        </p:nvPicPr>
        <p:blipFill>
          <a:blip r:embed="rId4"/>
          <a:stretch>
            <a:fillRect/>
          </a:stretch>
        </p:blipFill>
        <p:spPr>
          <a:xfrm>
            <a:off x="5006340" y="1440180"/>
            <a:ext cx="228600" cy="228600"/>
          </a:xfrm>
          <a:prstGeom prst="rect">
            <a:avLst/>
          </a:prstGeom>
        </p:spPr>
      </p:pic>
      <p:sp>
        <p:nvSpPr>
          <p:cNvPr id="17" name="Text 12"/>
          <p:cNvSpPr txBox="1"/>
          <p:nvPr/>
        </p:nvSpPr>
        <p:spPr>
          <a:xfrm>
            <a:off x="5486400" y="132588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GitHub projects</a:t>
            </a:r>
            <a:endParaRPr lang="en-US" sz="1800" dirty="0"/>
          </a:p>
        </p:txBody>
      </p:sp>
      <p:sp>
        <p:nvSpPr>
          <p:cNvPr id="18" name="Text 13"/>
          <p:cNvSpPr txBox="1"/>
          <p:nvPr/>
        </p:nvSpPr>
        <p:spPr>
          <a:xfrm>
            <a:off x="4892040" y="1965960"/>
            <a:ext cx="3611880" cy="274320"/>
          </a:xfrm>
          <a:prstGeom prst="rect">
            <a:avLst/>
          </a:prstGeom>
          <a:noFill/>
          <a:ln/>
        </p:spPr>
        <p:txBody>
          <a:bodyPr wrap="square" lIns="0" tIns="0" rIns="0" bIns="0" rtlCol="0" anchor="t"/>
          <a:lstStyle/>
          <a:p>
            <a:pPr indent="0" marL="0">
              <a:buNone/>
            </a:pPr>
            <a:r>
              <a:rPr lang="en-US" sz="1400" b="1" dirty="0">
                <a:solidFill>
                  <a:schemeClr val="tx1"/>
                </a:solidFill>
              </a:rPr>
              <a:t>ageron/handson-ml3</a:t>
            </a:r>
            <a:endParaRPr lang="en-US" sz="1400" dirty="0"/>
          </a:p>
        </p:txBody>
      </p:sp>
      <p:sp>
        <p:nvSpPr>
          <p:cNvPr id="19" name="Text 14"/>
          <p:cNvSpPr txBox="1"/>
          <p:nvPr/>
        </p:nvSpPr>
        <p:spPr>
          <a:xfrm>
            <a:off x="4892040" y="2240280"/>
            <a:ext cx="3611880" cy="228600"/>
          </a:xfrm>
          <a:prstGeom prst="rect">
            <a:avLst/>
          </a:prstGeom>
          <a:noFill/>
          <a:ln/>
        </p:spPr>
        <p:txBody>
          <a:bodyPr wrap="square" lIns="0" tIns="0" rIns="0" bIns="0" rtlCol="0" anchor="t"/>
          <a:lstStyle/>
          <a:p>
            <a:pPr indent="0" marL="0">
              <a:buNone/>
            </a:pPr>
            <a:r>
              <a:rPr lang="en-US" sz="1200" u="sng" dirty="0">
                <a:solidFill>
                  <a:schemeClr val="tx1"/>
                </a:solidFill>
                <a:hlinkClick r:id="rId5" invalidUrl="" action="" tgtFrame="" tooltip="https://github.com/ageron/handson-ml3" history="1" highlightClick="0" endSnd="0">
                  <a:extLst>
                    <a:ext uri="{A12FA001-AC4F-418D-AE19-62706E023703}">
                      <ahyp:hlinkClr xmlns:ahyp="http://schemas.microsoft.com/office/drawing/2018/hyperlinkcolor" val="tx"/>
                    </a:ext>
                  </a:extLst>
                </a:hlinkClick>
              </a:rPr>
              <a:t>github.com/ageron/handson-ml3</a:t>
            </a:r>
            <a:endParaRPr lang="en-US" sz="1200" dirty="0"/>
          </a:p>
        </p:txBody>
      </p:sp>
      <p:sp>
        <p:nvSpPr>
          <p:cNvPr id="20" name="Text 15"/>
          <p:cNvSpPr txBox="1"/>
          <p:nvPr/>
        </p:nvSpPr>
        <p:spPr>
          <a:xfrm>
            <a:off x="4892040" y="2468880"/>
            <a:ext cx="3611880" cy="274320"/>
          </a:xfrm>
          <a:prstGeom prst="rect">
            <a:avLst/>
          </a:prstGeom>
          <a:noFill/>
          <a:ln/>
        </p:spPr>
        <p:txBody>
          <a:bodyPr wrap="square" lIns="0" tIns="0" rIns="0" bIns="0" rtlCol="0" anchor="t"/>
          <a:lstStyle/>
          <a:p>
            <a:pPr indent="0" marL="0">
              <a:buNone/>
            </a:pPr>
            <a:r>
              <a:rPr lang="en-US" sz="1400" dirty="0">
                <a:solidFill>
                  <a:schemeClr val="tx2"/>
                </a:solidFill>
              </a:rPr>
              <a:t>Chapter 4 notebook: linear models</a:t>
            </a:r>
            <a:endParaRPr lang="en-US" sz="1400" dirty="0"/>
          </a:p>
        </p:txBody>
      </p:sp>
      <p:sp>
        <p:nvSpPr>
          <p:cNvPr id="21" name="Text 16"/>
          <p:cNvSpPr txBox="1"/>
          <p:nvPr/>
        </p:nvSpPr>
        <p:spPr>
          <a:xfrm>
            <a:off x="4892040" y="2834640"/>
            <a:ext cx="3611880" cy="274320"/>
          </a:xfrm>
          <a:prstGeom prst="rect">
            <a:avLst/>
          </a:prstGeom>
          <a:noFill/>
          <a:ln/>
        </p:spPr>
        <p:txBody>
          <a:bodyPr wrap="square" lIns="0" tIns="0" rIns="0" bIns="0" rtlCol="0" anchor="t"/>
          <a:lstStyle/>
          <a:p>
            <a:pPr indent="0" marL="0">
              <a:buNone/>
            </a:pPr>
            <a:r>
              <a:rPr lang="en-US" sz="1400" b="1" dirty="0">
                <a:solidFill>
                  <a:schemeClr val="tx1"/>
                </a:solidFill>
              </a:rPr>
              <a:t>patrickloeber/MLfromscratch</a:t>
            </a:r>
            <a:endParaRPr lang="en-US" sz="1400" dirty="0"/>
          </a:p>
        </p:txBody>
      </p:sp>
      <p:sp>
        <p:nvSpPr>
          <p:cNvPr id="22" name="Text 17"/>
          <p:cNvSpPr txBox="1"/>
          <p:nvPr/>
        </p:nvSpPr>
        <p:spPr>
          <a:xfrm>
            <a:off x="4892040" y="3108960"/>
            <a:ext cx="3611880" cy="228600"/>
          </a:xfrm>
          <a:prstGeom prst="rect">
            <a:avLst/>
          </a:prstGeom>
          <a:noFill/>
          <a:ln/>
        </p:spPr>
        <p:txBody>
          <a:bodyPr wrap="square" lIns="0" tIns="0" rIns="0" bIns="0" rtlCol="0" anchor="t"/>
          <a:lstStyle/>
          <a:p>
            <a:pPr indent="0" marL="0">
              <a:buNone/>
            </a:pPr>
            <a:r>
              <a:rPr lang="en-US" sz="1200" u="sng" dirty="0">
                <a:solidFill>
                  <a:schemeClr val="tx1"/>
                </a:solidFill>
                <a:hlinkClick r:id="rId6" invalidUrl="" action="" tgtFrame="" tooltip="https://github.com/patrickloeber/MLfromscratch" history="1" highlightClick="0" endSnd="0">
                  <a:extLst>
                    <a:ext uri="{A12FA001-AC4F-418D-AE19-62706E023703}">
                      <ahyp:hlinkClr xmlns:ahyp="http://schemas.microsoft.com/office/drawing/2018/hyperlinkcolor" val="tx"/>
                    </a:ext>
                  </a:extLst>
                </a:hlinkClick>
              </a:rPr>
              <a:t>github.com/patrickloeber/MLfromscratch</a:t>
            </a:r>
            <a:endParaRPr lang="en-US" sz="1200" dirty="0"/>
          </a:p>
        </p:txBody>
      </p:sp>
      <p:sp>
        <p:nvSpPr>
          <p:cNvPr id="23" name="Text 18"/>
          <p:cNvSpPr txBox="1"/>
          <p:nvPr/>
        </p:nvSpPr>
        <p:spPr>
          <a:xfrm>
            <a:off x="4892040" y="3337560"/>
            <a:ext cx="3611880" cy="274320"/>
          </a:xfrm>
          <a:prstGeom prst="rect">
            <a:avLst/>
          </a:prstGeom>
          <a:noFill/>
          <a:ln/>
        </p:spPr>
        <p:txBody>
          <a:bodyPr wrap="square" lIns="0" tIns="0" rIns="0" bIns="0" rtlCol="0" anchor="t"/>
          <a:lstStyle/>
          <a:p>
            <a:pPr indent="0" marL="0">
              <a:buNone/>
            </a:pPr>
            <a:r>
              <a:rPr lang="en-US" sz="1400" dirty="0">
                <a:solidFill>
                  <a:schemeClr val="tx2"/>
                </a:solidFill>
              </a:rPr>
              <a:t>Linear and logistic regression in NumPy</a:t>
            </a:r>
            <a:endParaRPr lang="en-US" sz="1400" dirty="0"/>
          </a:p>
        </p:txBody>
      </p:sp>
      <p:sp>
        <p:nvSpPr>
          <p:cNvPr id="24" name="Text 19"/>
          <p:cNvSpPr txBox="1"/>
          <p:nvPr/>
        </p:nvSpPr>
        <p:spPr>
          <a:xfrm>
            <a:off x="4892040" y="3703320"/>
            <a:ext cx="3611880" cy="274320"/>
          </a:xfrm>
          <a:prstGeom prst="rect">
            <a:avLst/>
          </a:prstGeom>
          <a:noFill/>
          <a:ln/>
        </p:spPr>
        <p:txBody>
          <a:bodyPr wrap="square" lIns="0" tIns="0" rIns="0" bIns="0" rtlCol="0" anchor="t"/>
          <a:lstStyle/>
          <a:p>
            <a:pPr indent="0" marL="0">
              <a:buNone/>
            </a:pPr>
            <a:r>
              <a:rPr lang="en-US" sz="1400" b="1" dirty="0">
                <a:solidFill>
                  <a:schemeClr val="tx1"/>
                </a:solidFill>
              </a:rPr>
              <a:t>intro-stat-learning/ISLP_labs</a:t>
            </a:r>
            <a:endParaRPr lang="en-US" sz="1400" dirty="0"/>
          </a:p>
        </p:txBody>
      </p:sp>
      <p:sp>
        <p:nvSpPr>
          <p:cNvPr id="25" name="Text 20"/>
          <p:cNvSpPr txBox="1"/>
          <p:nvPr/>
        </p:nvSpPr>
        <p:spPr>
          <a:xfrm>
            <a:off x="4892040" y="3977640"/>
            <a:ext cx="3611880" cy="228600"/>
          </a:xfrm>
          <a:prstGeom prst="rect">
            <a:avLst/>
          </a:prstGeom>
          <a:noFill/>
          <a:ln/>
        </p:spPr>
        <p:txBody>
          <a:bodyPr wrap="square" lIns="0" tIns="0" rIns="0" bIns="0" rtlCol="0" anchor="t"/>
          <a:lstStyle/>
          <a:p>
            <a:pPr indent="0" marL="0">
              <a:buNone/>
            </a:pPr>
            <a:r>
              <a:rPr lang="en-US" sz="1200" u="sng" dirty="0">
                <a:solidFill>
                  <a:schemeClr val="tx1"/>
                </a:solidFill>
                <a:hlinkClick r:id="rId7" invalidUrl="" action="" tgtFrame="" tooltip="https://github.com/intro-stat-learning/ISLP_labs" history="1" highlightClick="0" endSnd="0">
                  <a:extLst>
                    <a:ext uri="{A12FA001-AC4F-418D-AE19-62706E023703}">
                      <ahyp:hlinkClr xmlns:ahyp="http://schemas.microsoft.com/office/drawing/2018/hyperlinkcolor" val="tx"/>
                    </a:ext>
                  </a:extLst>
                </a:hlinkClick>
              </a:rPr>
              <a:t>github.com/intro-stat-learning/ISLP_labs</a:t>
            </a:r>
            <a:endParaRPr lang="en-US" sz="1200" dirty="0"/>
          </a:p>
        </p:txBody>
      </p:sp>
      <p:sp>
        <p:nvSpPr>
          <p:cNvPr id="26" name="Text 21"/>
          <p:cNvSpPr txBox="1"/>
          <p:nvPr/>
        </p:nvSpPr>
        <p:spPr>
          <a:xfrm>
            <a:off x="4892040" y="4206240"/>
            <a:ext cx="3611880" cy="274320"/>
          </a:xfrm>
          <a:prstGeom prst="rect">
            <a:avLst/>
          </a:prstGeom>
          <a:noFill/>
          <a:ln/>
        </p:spPr>
        <p:txBody>
          <a:bodyPr wrap="square" lIns="0" tIns="0" rIns="0" bIns="0" rtlCol="0" anchor="t"/>
          <a:lstStyle/>
          <a:p>
            <a:pPr indent="0" marL="0">
              <a:buNone/>
            </a:pPr>
            <a:r>
              <a:rPr lang="en-US" sz="1400" dirty="0">
                <a:solidFill>
                  <a:schemeClr val="tx2"/>
                </a:solidFill>
              </a:rPr>
              <a:t>Chapter 3 lab: linear regression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egression Deck">
  <a:themeElements>
    <a:clrScheme name="Regression Deck">
      <a:dk1>
        <a:srgbClr val="10252F"/>
      </a:dk1>
      <a:lt1>
        <a:srgbClr val="FFFFFF"/>
      </a:lt1>
      <a:dk2>
        <a:srgbClr val="4B6370"/>
      </a:dk2>
      <a:lt2>
        <a:srgbClr val="EAF3F5"/>
      </a:lt2>
      <a:accent1>
        <a:srgbClr val="0E6F7C"/>
      </a:accent1>
      <a:accent2>
        <a:srgbClr val="F2674A"/>
      </a:accent2>
      <a:accent3>
        <a:srgbClr val="F2B33D"/>
      </a:accent3>
      <a:accent4>
        <a:srgbClr val="5B8DB8"/>
      </a:accent4>
      <a:accent5>
        <a:srgbClr val="7A9E7E"/>
      </a:accent5>
      <a:accent6>
        <a:srgbClr val="8C6BB1"/>
      </a:accent6>
      <a:hlink>
        <a:srgbClr val="0E6F7C"/>
      </a:hlink>
      <a:folHlink>
        <a:srgbClr val="8C6BB1"/>
      </a:folHlink>
    </a:clrScheme>
    <a:fontScheme name="Regression 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and Logistic Regression: Beginner to Advanced</dc:title>
  <dc:subject>PptxGenJS Presentation</dc:subject>
  <dc:creator>Claude</dc:creator>
  <cp:lastModifiedBy>Claude</cp:lastModifiedBy>
  <cp:revision>1</cp:revision>
  <dcterms:created xsi:type="dcterms:W3CDTF">2026-10-25T11:37:50Z</dcterms:created>
  <dcterms:modified xsi:type="dcterms:W3CDTF">2026-10-25T11:37:50Z</dcterms:modified>
</cp:coreProperties>
</file>