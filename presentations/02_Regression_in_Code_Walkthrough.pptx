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gression in code" id="{8176a8aa-b61e-d5d8-0534-35fbb45af0b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hands-on companion to the regression slides. Three short Python scripts, each with its real output and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plain Python. If you do not want to install anything, paste the code into a Google Colab cell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script (copy into linear_regression.py and run it):
import numpy as np
import matplotlib.pyplot as plt
from sklearn.linear_model import LinearRegression
# 1. Data: hours studied -&gt; exam score
hours = np.array([1, 2, 3, 4, 5]).reshape(-1, 1)
score = np.array([48, 60, 62, 74, 76])
# 2. Fit the model
model = LinearRegression().fit(hours, score)
# 3. Read the results
print("Slope:", round(model.coef_[0], 2))
print("Intercept:", round(model.intercept_, 2))
print("R2:", round(model.score(hours, score), 2))
print("Score for 6 hours:", model.predict([[6]])[0])
# 4. Plot the data and the fitted line
plt.scatter(hours, score, color="red", label="Data")
plt.plot(hours, model.predict(hours), label="Fit")
plt.xlabel("Hours"); plt.ylabel("Score")
plt.legend(); plt.show()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and graph come from running linear_regression.py exactly as shown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script (copy into logistic_regression.py and run it):
import numpy as np
import matplotlib.pyplot as plt
from sklearn.linear_model import LogisticRegression
# 1. Data: hours studied -&gt; passed (1) or failed (0)
hours = np.arange(1, 11).reshape(-1, 1)
passed = np.array([0, 0, 0, 1, 0, 1, 0, 1, 1, 1])
# 2. Fit the model
model = LogisticRegression().fit(hours, passed)
# 3. Predict
p = model.predict_proba([[5]])[0, 1]
print("P(pass) at 5 hours:", round(p, 2))
print("Class for 2 hours:", model.predict([[2]])[0])
# 4. Plot the probability curve
x = np.linspace(0, 11, 100).reshape(-1, 1)
prob = model.predict_proba(x)[:, 1]
plt.scatter(hours, passed, color="red", label="Data")
plt.plot(x, prob, label="P(pass)")
plt.axhline(0.5, linestyle="--", color="gray")
plt.xlabel("Hours"); plt.ylabel("P(pass)")
plt.legend(); plt.show()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and graph come from running logistic_regression.py exactly as shown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script (copy into decision_boundary.py and run it):
import matplotlib.pyplot as plt
from sklearn.datasets import make_blobs
from sklearn.linear_model import LogisticRegression
from sklearn.inspection import DecisionBoundaryDisplay
# 1. Data: two features, two classes
X, y = make_blobs(n_samples=120, centers=2,
                  cluster_std=2.2, random_state=3)
# 2. Fit the model
model = LogisticRegression().fit(X, y)
# 3. Accuracy
print("Accuracy:", round(model.score(X, y), 2))
# 4. Plot the shaded decision regions
DecisionBoundaryDisplay.from_estimator(
    model, X, cmap="coolwarm", alpha=0.5,
    response_method="predict_proba")
plt.scatter(X[:, 0], X[:, 1], c=y,
            cmap="coolwarm", edgecolor="k")
plt.xlabel("Feature 1"); plt.ylabel("Feature 2")
plt.show()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two features, logistic regression separates the classes with a straight line. Points on the wrong side are the 8% it gets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edits that teach a lot. Change one thing, rerun, and compare the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14400"/>
            <a:ext cx="4663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8308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0175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Regression in 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Regression in code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Linear and logistic regression, ready to run</a:t>
            </a:r>
            <a:endParaRPr lang="en-US" sz="1800" dirty="0"/>
          </a:p>
        </p:txBody>
      </p:sp>
      <p:sp>
        <p:nvSpPr>
          <p:cNvPr id="5" name="Title image card"/>
          <p:cNvSpPr/>
          <p:nvPr/>
        </p:nvSpPr>
        <p:spPr>
          <a:xfrm>
            <a:off x="5394960" y="1234440"/>
            <a:ext cx="32918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</p:spPr>
      </p:sp>
      <p:pic>
        <p:nvPicPr>
          <p:cNvPr id="6" name="Image 0" descr="Logistic regression decision regions on two clusters of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3017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Set up in three steps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Letter 1"/>
          <p:cNvSpPr txBox="1"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097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Install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097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command adds the libraries.</a:t>
            </a:r>
            <a:endParaRPr lang="en-US" sz="1400" dirty="0"/>
          </a:p>
        </p:txBody>
      </p:sp>
      <p:sp>
        <p:nvSpPr>
          <p:cNvPr id="8" name="Command chip 1"/>
          <p:cNvSpPr/>
          <p:nvPr/>
        </p:nvSpPr>
        <p:spPr>
          <a:xfrm>
            <a:off x="5303520" y="128016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40680" y="1280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scikit-learn matplotlib</a:t>
            </a:r>
            <a:endParaRPr lang="en-US" sz="1100" dirty="0"/>
          </a:p>
        </p:txBody>
      </p:sp>
      <p:sp>
        <p:nvSpPr>
          <p:cNvPr id="10" name="Card 2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Letter 2"/>
          <p:cNvSpPr txBox="1"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Save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65176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Paste the code into a file, a Jupyter cell or Colab.</a:t>
            </a:r>
            <a:endParaRPr lang="en-US" sz="1400" dirty="0"/>
          </a:p>
        </p:txBody>
      </p:sp>
      <p:sp>
        <p:nvSpPr>
          <p:cNvPr id="14" name="Command chip 2"/>
          <p:cNvSpPr/>
          <p:nvPr/>
        </p:nvSpPr>
        <p:spPr>
          <a:xfrm>
            <a:off x="5303520" y="233172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40680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linear_regression.py</a:t>
            </a:r>
            <a:endParaRPr lang="en-US" sz="1100" dirty="0"/>
          </a:p>
        </p:txBody>
      </p:sp>
      <p:sp>
        <p:nvSpPr>
          <p:cNvPr id="16" name="Card 3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Letter 3"/>
          <p:cNvSpPr txBox="1"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200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65176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it. The numbers print and a graph opens.</a:t>
            </a:r>
            <a:endParaRPr lang="en-US" sz="1400" dirty="0"/>
          </a:p>
        </p:txBody>
      </p:sp>
      <p:sp>
        <p:nvSpPr>
          <p:cNvPr id="20" name="Command chip 3"/>
          <p:cNvSpPr/>
          <p:nvPr/>
        </p:nvSpPr>
        <p:spPr>
          <a:xfrm>
            <a:off x="5303520" y="3383280"/>
            <a:ext cx="32004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4068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linear_regression.py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data is built into every script, so there are no files to download.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Linear regression: the code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/>
        </p:spPr>
      </p:sp>
      <p:sp>
        <p:nvSpPr>
          <p:cNvPr id="4" name="Code: linear regression"/>
          <p:cNvSpPr txBox="1"/>
          <p:nvPr/>
        </p:nvSpPr>
        <p:spPr>
          <a:xfrm>
            <a:off x="640080" y="1161288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Data: hours studied -&gt; exam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= np.array([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]).reshape(-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np.array([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LinearRegression().fit(hours, score)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Read the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"Slope:"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round(model.coef_[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"Intercept:"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round(model.intercept_,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"R2:"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round(model.score(hours, score),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 for 6 hours:"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model.predict([[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Plot the data and the fitted 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plt.scatter(hours, score, color=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label=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plt.plot(hours, model.predict(hours), label=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"Hours"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plt.ylabel(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plt.show()</a:t>
            </a:r>
            <a:endParaRPr lang="en-US" sz="1100" dirty="0"/>
          </a:p>
        </p:txBody>
      </p:sp>
      <p:sp>
        <p:nvSpPr>
          <p:cNvPr id="6" name="Card 4"/>
          <p:cNvSpPr/>
          <p:nvPr/>
        </p:nvSpPr>
        <p:spPr>
          <a:xfrm>
            <a:off x="6126480" y="1097280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7" name="Letter 1"/>
          <p:cNvSpPr txBox="1"/>
          <p:nvPr/>
        </p:nvSpPr>
        <p:spPr>
          <a:xfrm>
            <a:off x="6236208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1430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Hours and scores</a:t>
            </a:r>
            <a:endParaRPr lang="en-US" sz="1400" dirty="0"/>
          </a:p>
        </p:txBody>
      </p:sp>
      <p:sp>
        <p:nvSpPr>
          <p:cNvPr id="9" name="Card 5"/>
          <p:cNvSpPr/>
          <p:nvPr/>
        </p:nvSpPr>
        <p:spPr>
          <a:xfrm>
            <a:off x="6126480" y="1986991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0" name="Letter 2"/>
          <p:cNvSpPr txBox="1"/>
          <p:nvPr/>
        </p:nvSpPr>
        <p:spPr>
          <a:xfrm>
            <a:off x="6236208" y="2169871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032711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Finds the best line</a:t>
            </a:r>
            <a:endParaRPr lang="en-US" sz="1400" dirty="0"/>
          </a:p>
        </p:txBody>
      </p:sp>
      <p:sp>
        <p:nvSpPr>
          <p:cNvPr id="12" name="Card 6"/>
          <p:cNvSpPr/>
          <p:nvPr/>
        </p:nvSpPr>
        <p:spPr>
          <a:xfrm>
            <a:off x="6126480" y="2876702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3" name="Letter 3"/>
          <p:cNvSpPr txBox="1"/>
          <p:nvPr/>
        </p:nvSpPr>
        <p:spPr>
          <a:xfrm>
            <a:off x="6236208" y="305958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92242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Slope, intercept, R²</a:t>
            </a:r>
            <a:endParaRPr lang="en-US" sz="1400" dirty="0"/>
          </a:p>
        </p:txBody>
      </p:sp>
      <p:sp>
        <p:nvSpPr>
          <p:cNvPr id="15" name="Card 7"/>
          <p:cNvSpPr/>
          <p:nvPr/>
        </p:nvSpPr>
        <p:spPr>
          <a:xfrm>
            <a:off x="6126480" y="3766414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6" name="Letter 4"/>
          <p:cNvSpPr txBox="1"/>
          <p:nvPr/>
        </p:nvSpPr>
        <p:spPr>
          <a:xfrm>
            <a:off x="6236208" y="394929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381213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Points plus fitted 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Linear regression: the output</a:t>
            </a:r>
            <a:endParaRPr lang="en-US" sz="3600" dirty="0"/>
          </a:p>
        </p:txBody>
      </p:sp>
      <p:pic>
        <p:nvPicPr>
          <p:cNvPr id="4" name="Image 0" descr="Plot produced by the scr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636008" cy="3383280"/>
          </a:xfrm>
          <a:prstGeom prst="rect">
            <a:avLst/>
          </a:prstGeom>
        </p:spPr>
      </p:pic>
      <p:sp>
        <p:nvSpPr>
          <p:cNvPr id="5" name="Terminal"/>
          <p:cNvSpPr/>
          <p:nvPr/>
        </p:nvSpPr>
        <p:spPr>
          <a:xfrm>
            <a:off x="5349240" y="1188720"/>
            <a:ext cx="3337560" cy="1426464"/>
          </a:xfrm>
          <a:prstGeom prst="roundRect">
            <a:avLst>
              <a:gd name="adj" fmla="val 6410"/>
            </a:avLst>
          </a:prstGeom>
          <a:solidFill>
            <a:schemeClr val="tx1"/>
          </a:solidFill>
          <a:ln/>
        </p:spPr>
      </p:sp>
      <p:sp>
        <p:nvSpPr>
          <p:cNvPr id="6" name="Terminal dot 1"/>
          <p:cNvSpPr/>
          <p:nvPr/>
        </p:nvSpPr>
        <p:spPr>
          <a:xfrm>
            <a:off x="5532120" y="132588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rminal dot 2"/>
          <p:cNvSpPr/>
          <p:nvPr/>
        </p:nvSpPr>
        <p:spPr>
          <a:xfrm>
            <a:off x="5733288" y="13258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rminal dot 3"/>
          <p:cNvSpPr/>
          <p:nvPr/>
        </p:nvSpPr>
        <p:spPr>
          <a:xfrm>
            <a:off x="5934456" y="132588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263640" y="1280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600200"/>
            <a:ext cx="2971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Slope: 7.0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Intercept: 43.0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0.94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for 6 hours: 85.0</a:t>
            </a:r>
            <a:endParaRPr lang="en-US" sz="1300" dirty="0"/>
          </a:p>
        </p:txBody>
      </p:sp>
      <p:sp>
        <p:nvSpPr>
          <p:cNvPr id="11" name="Card 8"/>
          <p:cNvSpPr/>
          <p:nvPr/>
        </p:nvSpPr>
        <p:spPr>
          <a:xfrm>
            <a:off x="5349240" y="2798064"/>
            <a:ext cx="3337560" cy="1773936"/>
          </a:xfrm>
          <a:prstGeom prst="roundRect">
            <a:avLst>
              <a:gd name="adj" fmla="val 5155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532120" y="29077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 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3209544"/>
            <a:ext cx="2971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Slope 7: each hour adds about 7 marks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R² 0.94: the line explains 94% of the variation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Six hours predicts a score of 85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Logistic regression: the code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/>
        </p:spPr>
      </p:sp>
      <p:sp>
        <p:nvSpPr>
          <p:cNvPr id="4" name="Code: logistic regression"/>
          <p:cNvSpPr txBox="1"/>
          <p:nvPr/>
        </p:nvSpPr>
        <p:spPr>
          <a:xfrm>
            <a:off x="640080" y="1161288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LogisticRegression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Data: hours studied -&gt; passed (1) or failed (0)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= np.arange(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).reshape(-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np.array([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LogisticRegression().fit(hours, passed)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Predict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model.predict_proba([[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"P(pass) at 5 hours:"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round(p,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 for 2 hours:"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model.predict([[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]])[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Plot the probability curve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np.linspace(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).reshape(-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model.predict_proba(x)[:,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plt.scatter(hours, passed, color=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label=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prob, label=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"P(pass)"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plt.axhline(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linestyle=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color=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"gray"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"Hours"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plt.ylabel(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"P(pass)"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plt.show()</a:t>
            </a:r>
            <a:endParaRPr lang="en-US" sz="1100" dirty="0"/>
          </a:p>
        </p:txBody>
      </p:sp>
      <p:sp>
        <p:nvSpPr>
          <p:cNvPr id="6" name="Card 9"/>
          <p:cNvSpPr/>
          <p:nvPr/>
        </p:nvSpPr>
        <p:spPr>
          <a:xfrm>
            <a:off x="6126480" y="1097280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7" name="Letter 1"/>
          <p:cNvSpPr txBox="1"/>
          <p:nvPr/>
        </p:nvSpPr>
        <p:spPr>
          <a:xfrm>
            <a:off x="6236208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1430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Hours, pass or fail</a:t>
            </a:r>
            <a:endParaRPr lang="en-US" sz="1400" dirty="0"/>
          </a:p>
        </p:txBody>
      </p:sp>
      <p:sp>
        <p:nvSpPr>
          <p:cNvPr id="9" name="Card 10"/>
          <p:cNvSpPr/>
          <p:nvPr/>
        </p:nvSpPr>
        <p:spPr>
          <a:xfrm>
            <a:off x="6126480" y="1986991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0" name="Letter 2"/>
          <p:cNvSpPr txBox="1"/>
          <p:nvPr/>
        </p:nvSpPr>
        <p:spPr>
          <a:xfrm>
            <a:off x="6236208" y="2169871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032711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Learns the S-curve</a:t>
            </a:r>
            <a:endParaRPr lang="en-US" sz="1400" dirty="0"/>
          </a:p>
        </p:txBody>
      </p:sp>
      <p:sp>
        <p:nvSpPr>
          <p:cNvPr id="12" name="Card 11"/>
          <p:cNvSpPr/>
          <p:nvPr/>
        </p:nvSpPr>
        <p:spPr>
          <a:xfrm>
            <a:off x="6126480" y="2876702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3" name="Letter 3"/>
          <p:cNvSpPr txBox="1"/>
          <p:nvPr/>
        </p:nvSpPr>
        <p:spPr>
          <a:xfrm>
            <a:off x="6236208" y="305958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92242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Probability and class</a:t>
            </a:r>
            <a:endParaRPr lang="en-US" sz="1400" dirty="0"/>
          </a:p>
        </p:txBody>
      </p:sp>
      <p:sp>
        <p:nvSpPr>
          <p:cNvPr id="15" name="Card 12"/>
          <p:cNvSpPr/>
          <p:nvPr/>
        </p:nvSpPr>
        <p:spPr>
          <a:xfrm>
            <a:off x="6126480" y="3766414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6" name="Letter 4"/>
          <p:cNvSpPr txBox="1"/>
          <p:nvPr/>
        </p:nvSpPr>
        <p:spPr>
          <a:xfrm>
            <a:off x="6236208" y="394929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381213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probability curve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Logistic regression: the output</a:t>
            </a:r>
            <a:endParaRPr lang="en-US" sz="3600" dirty="0"/>
          </a:p>
        </p:txBody>
      </p:sp>
      <p:pic>
        <p:nvPicPr>
          <p:cNvPr id="4" name="Image 0" descr="Plot produced by the scr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636008" cy="3383280"/>
          </a:xfrm>
          <a:prstGeom prst="rect">
            <a:avLst/>
          </a:prstGeom>
        </p:spPr>
      </p:pic>
      <p:sp>
        <p:nvSpPr>
          <p:cNvPr id="5" name="Terminal"/>
          <p:cNvSpPr/>
          <p:nvPr/>
        </p:nvSpPr>
        <p:spPr>
          <a:xfrm>
            <a:off x="5349240" y="1188720"/>
            <a:ext cx="3337560" cy="987552"/>
          </a:xfrm>
          <a:prstGeom prst="roundRect">
            <a:avLst>
              <a:gd name="adj" fmla="val 9259"/>
            </a:avLst>
          </a:prstGeom>
          <a:solidFill>
            <a:schemeClr val="tx1"/>
          </a:solidFill>
          <a:ln/>
        </p:spPr>
      </p:sp>
      <p:sp>
        <p:nvSpPr>
          <p:cNvPr id="6" name="Terminal dot 1"/>
          <p:cNvSpPr/>
          <p:nvPr/>
        </p:nvSpPr>
        <p:spPr>
          <a:xfrm>
            <a:off x="5532120" y="132588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rminal dot 2"/>
          <p:cNvSpPr/>
          <p:nvPr/>
        </p:nvSpPr>
        <p:spPr>
          <a:xfrm>
            <a:off x="5733288" y="13258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rminal dot 3"/>
          <p:cNvSpPr/>
          <p:nvPr/>
        </p:nvSpPr>
        <p:spPr>
          <a:xfrm>
            <a:off x="5934456" y="132588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263640" y="1280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600200"/>
            <a:ext cx="2971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P(pass) at 5 hours: 0.43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for 2 hours: 0</a:t>
            </a:r>
            <a:endParaRPr lang="en-US" sz="1300" dirty="0"/>
          </a:p>
        </p:txBody>
      </p:sp>
      <p:sp>
        <p:nvSpPr>
          <p:cNvPr id="11" name="Card 13"/>
          <p:cNvSpPr/>
          <p:nvPr/>
        </p:nvSpPr>
        <p:spPr>
          <a:xfrm>
            <a:off x="5349240" y="2359152"/>
            <a:ext cx="3337560" cy="2212848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532120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 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770632"/>
            <a:ext cx="29718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curve is a probability, always from 0 to 1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crosses 0.5 near 5.5 hours: the pass/fail cutoff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5 hours the chance of passing is 43%, so class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Bonus: see the decision boundary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548640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/>
        </p:spPr>
      </p:sp>
      <p:sp>
        <p:nvSpPr>
          <p:cNvPr id="4" name="Code: decision boundary"/>
          <p:cNvSpPr txBox="1"/>
          <p:nvPr/>
        </p:nvSpPr>
        <p:spPr>
          <a:xfrm>
            <a:off x="640080" y="1161288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sklearn.datasets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make_blobs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LogisticRegression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sklearn.inspection </a:t>
            </a:r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DecisionBoundaryDisplay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Data: two features, two classes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make_blobs(n_samples=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centers=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cluster_std=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LogisticRegression().fit(X, 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"Accuracy:"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round(model.score(X, y),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Plot the shaded decision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DecisionBoundaryDisplay.from_estimator(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 X, cmap=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"coolwarm"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alpha=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response_method=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"predict_proba"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plt.scatter(X[:,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X[:,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c=y,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cmap=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"coolwarm"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edgecolor=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"Feature 1"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plt.ylabel(</a:t>
            </a:r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"Feature 2"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Card 14"/>
          <p:cNvSpPr/>
          <p:nvPr/>
        </p:nvSpPr>
        <p:spPr>
          <a:xfrm>
            <a:off x="6126480" y="1097280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7" name="Letter 1"/>
          <p:cNvSpPr txBox="1"/>
          <p:nvPr/>
        </p:nvSpPr>
        <p:spPr>
          <a:xfrm>
            <a:off x="6236208" y="1280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1430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 features, 2 classes</a:t>
            </a:r>
            <a:endParaRPr lang="en-US" sz="1400" dirty="0"/>
          </a:p>
        </p:txBody>
      </p:sp>
      <p:sp>
        <p:nvSpPr>
          <p:cNvPr id="9" name="Card 15"/>
          <p:cNvSpPr/>
          <p:nvPr/>
        </p:nvSpPr>
        <p:spPr>
          <a:xfrm>
            <a:off x="6126480" y="1986991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0" name="Letter 2"/>
          <p:cNvSpPr txBox="1"/>
          <p:nvPr/>
        </p:nvSpPr>
        <p:spPr>
          <a:xfrm>
            <a:off x="6236208" y="2169871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032711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straight boundary</a:t>
            </a:r>
            <a:endParaRPr lang="en-US" sz="1400" dirty="0"/>
          </a:p>
        </p:txBody>
      </p:sp>
      <p:sp>
        <p:nvSpPr>
          <p:cNvPr id="12" name="Card 16"/>
          <p:cNvSpPr/>
          <p:nvPr/>
        </p:nvSpPr>
        <p:spPr>
          <a:xfrm>
            <a:off x="6126480" y="2876702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3" name="Letter 3"/>
          <p:cNvSpPr txBox="1"/>
          <p:nvPr/>
        </p:nvSpPr>
        <p:spPr>
          <a:xfrm>
            <a:off x="6236208" y="305958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92242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Accuracy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Share predicted right</a:t>
            </a:r>
            <a:endParaRPr lang="en-US" sz="1400" dirty="0"/>
          </a:p>
        </p:txBody>
      </p:sp>
      <p:sp>
        <p:nvSpPr>
          <p:cNvPr id="15" name="Card 17"/>
          <p:cNvSpPr/>
          <p:nvPr/>
        </p:nvSpPr>
        <p:spPr>
          <a:xfrm>
            <a:off x="6126480" y="3766414"/>
            <a:ext cx="25603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16" name="Letter 4"/>
          <p:cNvSpPr txBox="1"/>
          <p:nvPr/>
        </p:nvSpPr>
        <p:spPr>
          <a:xfrm>
            <a:off x="6236208" y="394929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381213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Shaded regions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Bonus: the output</a:t>
            </a:r>
            <a:endParaRPr lang="en-US" sz="3600" dirty="0"/>
          </a:p>
        </p:txBody>
      </p:sp>
      <p:pic>
        <p:nvPicPr>
          <p:cNvPr id="4" name="Image 0" descr="Plot produced by the scr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636008" cy="3383280"/>
          </a:xfrm>
          <a:prstGeom prst="rect">
            <a:avLst/>
          </a:prstGeom>
        </p:spPr>
      </p:pic>
      <p:sp>
        <p:nvSpPr>
          <p:cNvPr id="5" name="Terminal"/>
          <p:cNvSpPr/>
          <p:nvPr/>
        </p:nvSpPr>
        <p:spPr>
          <a:xfrm>
            <a:off x="5349240" y="1188720"/>
            <a:ext cx="3337560" cy="768096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</p:sp>
      <p:sp>
        <p:nvSpPr>
          <p:cNvPr id="6" name="Terminal dot 1"/>
          <p:cNvSpPr/>
          <p:nvPr/>
        </p:nvSpPr>
        <p:spPr>
          <a:xfrm>
            <a:off x="5532120" y="132588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rminal dot 2"/>
          <p:cNvSpPr/>
          <p:nvPr/>
        </p:nvSpPr>
        <p:spPr>
          <a:xfrm>
            <a:off x="5733288" y="13258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rminal dot 3"/>
          <p:cNvSpPr/>
          <p:nvPr/>
        </p:nvSpPr>
        <p:spPr>
          <a:xfrm>
            <a:off x="5934456" y="132588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263640" y="1280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Output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600200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Accuracy: 0.92</a:t>
            </a:r>
            <a:endParaRPr lang="en-US" sz="1300" dirty="0"/>
          </a:p>
        </p:txBody>
      </p:sp>
      <p:sp>
        <p:nvSpPr>
          <p:cNvPr id="11" name="Card 18"/>
          <p:cNvSpPr/>
          <p:nvPr/>
        </p:nvSpPr>
        <p:spPr>
          <a:xfrm>
            <a:off x="5349240" y="2139696"/>
            <a:ext cx="3337560" cy="2432304"/>
          </a:xfrm>
          <a:prstGeom prst="roundRect">
            <a:avLst>
              <a:gd name="adj" fmla="val 3759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532120" y="22494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How to read 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551176"/>
            <a:ext cx="29718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and blue dots are the two classes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colour band shows the predicted probability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pale strip is where the model is 50/50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Try it yourself</a:t>
            </a:r>
            <a:endParaRPr lang="en-US" sz="3600" dirty="0"/>
          </a:p>
        </p:txBody>
      </p:sp>
      <p:sp>
        <p:nvSpPr>
          <p:cNvPr id="4" name="Card 19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5" name="Badge 20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Sliders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371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Change the data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011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 the hours or scores and rerun. Watch the slope and the curve move.</a:t>
            </a:r>
            <a:endParaRPr lang="en-US" sz="1400" dirty="0"/>
          </a:p>
        </p:txBody>
      </p:sp>
      <p:sp>
        <p:nvSpPr>
          <p:cNvPr id="9" name="Card 21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Badge 22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49733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1371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a feature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20116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X two columns, such as hours and sleep, and refit the model.</a:t>
            </a:r>
            <a:endParaRPr lang="en-US" sz="1400" dirty="0"/>
          </a:p>
        </p:txBody>
      </p:sp>
      <p:sp>
        <p:nvSpPr>
          <p:cNvPr id="14" name="Card 23"/>
          <p:cNvSpPr/>
          <p:nvPr/>
        </p:nvSpPr>
        <p:spPr>
          <a:xfrm>
            <a:off x="457200" y="297180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5" name="Badge 24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Crosshai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2804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Move the cutoff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3794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pass when the probability is at least 0.3 instead of 0.5.</a:t>
            </a:r>
            <a:endParaRPr lang="en-US" sz="1400" dirty="0"/>
          </a:p>
        </p:txBody>
      </p:sp>
      <p:sp>
        <p:nvSpPr>
          <p:cNvPr id="19" name="Card 25"/>
          <p:cNvSpPr/>
          <p:nvPr/>
        </p:nvSpPr>
        <p:spPr>
          <a:xfrm>
            <a:off x="4709160" y="2971800"/>
            <a:ext cx="39776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Badge 26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Shield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2804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32120" y="3154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regularization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892040" y="3794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 LogisticRegression(C=0.1) and compare the curve.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ression Deck">
  <a:themeElements>
    <a:clrScheme name="Regression Deck">
      <a:dk1>
        <a:srgbClr val="10252F"/>
      </a:dk1>
      <a:lt1>
        <a:srgbClr val="FFFFFF"/>
      </a:lt1>
      <a:dk2>
        <a:srgbClr val="4B6370"/>
      </a:dk2>
      <a:lt2>
        <a:srgbClr val="EAF3F5"/>
      </a:lt2>
      <a:accent1>
        <a:srgbClr val="0E6F7C"/>
      </a:accent1>
      <a:accent2>
        <a:srgbClr val="F2674A"/>
      </a:accent2>
      <a:accent3>
        <a:srgbClr val="F2B33D"/>
      </a:accent3>
      <a:accent4>
        <a:srgbClr val="5B8DB8"/>
      </a:accent4>
      <a:accent5>
        <a:srgbClr val="7A9E7E"/>
      </a:accent5>
      <a:accent6>
        <a:srgbClr val="8C6BB1"/>
      </a:accent6>
      <a:hlink>
        <a:srgbClr val="0E6F7C"/>
      </a:hlink>
      <a:folHlink>
        <a:srgbClr val="8C6BB1"/>
      </a:folHlink>
    </a:clrScheme>
    <a:fontScheme name="Regression 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in Code: Linear and Logistic</dc:title>
  <dc:subject>PptxGenJS Presentation</dc:subject>
  <dc:creator>Claude</dc:creator>
  <cp:lastModifiedBy>Claude</cp:lastModifiedBy>
  <cp:revision>1</cp:revision>
  <dcterms:created xsi:type="dcterms:W3CDTF">2026-10-25T11:51:55Z</dcterms:created>
  <dcterms:modified xsi:type="dcterms:W3CDTF">2026-10-25T11:51:55Z</dcterms:modified>
</cp:coreProperties>
</file>